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weeks</c:v>
                </c:pt>
              </c:strCache>
            </c:strRef>
          </c:tx>
          <c:spPr>
            <a:solidFill>
              <a:srgbClr val="2E2463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9496-4D22-AAE3-D937A0C54FE7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9496-4D22-AAE3-D937A0C54FE7}"/>
              </c:ext>
            </c:extLst>
          </c:dPt>
          <c:dPt>
            <c:idx val="2"/>
            <c:invertIfNegative val="1"/>
            <c:bubble3D val="0"/>
            <c:spPr>
              <a:solidFill>
                <a:srgbClr val="C9A227"/>
              </a:solidFill>
            </c:spPr>
            <c:extLst>
              <c:ext xmlns:c16="http://schemas.microsoft.com/office/drawing/2014/chart" uri="{C3380CC4-5D6E-409C-BE32-E72D297353CC}">
                <c16:uniqueId val="{00000005-9496-4D22-AAE3-D937A0C54FE7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9496-4D22-AAE3-D937A0C54FE7}"/>
              </c:ext>
            </c:extLst>
          </c:dPt>
          <c:dPt>
            <c:idx val="4"/>
            <c:invertIfNegative val="1"/>
            <c:bubble3D val="0"/>
            <c:spPr>
              <a:solidFill>
                <a:srgbClr val="C9A227"/>
              </a:solidFill>
            </c:spPr>
            <c:extLst>
              <c:ext xmlns:c16="http://schemas.microsoft.com/office/drawing/2014/chart" uri="{C3380CC4-5D6E-409C-BE32-E72D297353CC}">
                <c16:uniqueId val="{00000009-9496-4D22-AAE3-D937A0C54FE7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9496-4D22-AAE3-D937A0C54FE7}"/>
              </c:ext>
            </c:extLst>
          </c:dPt>
          <c:cat>
            <c:strRef>
              <c:f>Sheet1!$A$2:$A$7</c:f>
              <c:strCache>
                <c:ptCount val="6"/>
                <c:pt idx="0">
                  <c:v>Phase 0
Foundation</c:v>
                </c:pt>
                <c:pt idx="1">
                  <c:v>Phase 1
Replication</c:v>
                </c:pt>
                <c:pt idx="2">
                  <c:v>Phase 2
Full Matrix</c:v>
                </c:pt>
                <c:pt idx="3">
                  <c:v>Phase 3
Fine-Tuning</c:v>
                </c:pt>
                <c:pt idx="4">
                  <c:v>Phase 4
Novel Exp.</c:v>
                </c:pt>
                <c:pt idx="5">
                  <c:v>Phase 5
Analysis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3.5</c:v>
                </c:pt>
                <c:pt idx="2">
                  <c:v>9</c:v>
                </c:pt>
                <c:pt idx="3">
                  <c:v>5.5</c:v>
                </c:pt>
                <c:pt idx="4">
                  <c:v>9</c:v>
                </c:pt>
                <c:pt idx="5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9496-4D22-AAE3-D937A0C54F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8E3"/>
            </a:solidFill>
          </a:ln>
        </c:spPr>
        <c:txPr>
          <a:bodyPr/>
          <a:lstStyle/>
          <a:p>
            <a:pPr>
              <a:defRPr sz="1050">
                <a:solidFill>
                  <a:srgbClr val="1A1A2E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AEC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1A1A2E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007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slide. This deck reviews seven recent papers on LLMs for vulnerability detection, extracts their weaknesses, and proposes a unified experimental roadmap that closes the gaps across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 for the talk: paper-by-paper review, cross-cutting weakness patterns, our research questions, the unified experimental roadmap, and timeline/contributions.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Synthesize the seven per-paper weakness lists into five recurring cross-cutting patterns that motivate the unified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eight research questions the roadmap is designed to answer, each traceable to specific weaknesses in the seven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birds-eye view of the five-stage roadmap pipeline before diving into each stage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 the dataset design: dual tracks (real-world + synthetic), 5 languages, nested granularity labels, validated context annotation, leakage audit, and the OWASP-LLM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model and technique matrix: models tested, prompting strategies, architectural conditions, and the fine-tuning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8 evaluation sub-tasks (4 novel) and the full metric suite, highlighting MCC and BLEU/ROUGE as metrics the literature recommends but never actually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five novel experimental threads that go beyond replicating or extending any single prior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statistical rigor that ties the whole roadmap together — repeated runs, paired significance testing at scale, confidence intervals, scaling regressions, confound checks, and annotation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phased timeline with indicative durations, noting phases 2-4 can partially overlap once early tooling is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six expected contributions of the unified roadmap, each one closing a gap that no single prior paper addressed.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re-emphasizing that every proposed roadmap element is traceable to a concrete weakness, then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94473" y="91440"/>
            <a:ext cx="4114800" cy="4114800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RESEARCH ROADMAP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881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LLMs for Vulnerability Detection: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Seven Papers, Their Gaps, and Our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1">
                <a:solidFill>
                  <a:srgbClr val="B9B3D6"/>
                </a:solidFill>
                <a:latin typeface="Calibri"/>
              </a:rPr>
              <a:t>Aims, Weaknesses, Possible Developments, and a Unified Experimental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B9B3D6"/>
                </a:solidFill>
                <a:latin typeface="Calibri"/>
              </a:rPr>
              <a:t>Reviewed papers: Tamberg &amp; Bahsi (2024) · Sheng et al. (2025) · Ahmed et al. (2025, SecVulEval) ·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B9B3D6"/>
                </a:solidFill>
                <a:latin typeface="Calibri"/>
              </a:rPr>
              <a:t>Steenhoek et al. (2024, To Err Is Machine) · Shifat et al. (2026) · Gnieciak &amp; Szandala (2025) ·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B9B3D6"/>
                </a:solidFill>
                <a:latin typeface="Calibri"/>
              </a:rPr>
              <a:t>Tehrani et al.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B9B3D6"/>
                </a:solidFill>
                <a:latin typeface="Calibri"/>
              </a:rPr>
              <a:t>Prepared for advisor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143D"/>
                </a:solidFill>
                <a:latin typeface="Cambria"/>
              </a:rPr>
              <a:t>What We'll Cover</a:t>
            </a:r>
          </a:p>
        </p:txBody>
      </p:sp>
      <p:sp>
        <p:nvSpPr>
          <p:cNvPr id="5" name="Oval 4"/>
          <p:cNvSpPr/>
          <p:nvPr/>
        </p:nvSpPr>
        <p:spPr>
          <a:xfrm>
            <a:off x="557783" y="1837943"/>
            <a:ext cx="530352" cy="530352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56231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143D"/>
                </a:solidFill>
                <a:latin typeface="Calibri"/>
              </a:rPr>
              <a:t>Seven Papers, One at a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892807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66378"/>
                </a:solidFill>
                <a:latin typeface="Calibri"/>
              </a:rPr>
              <a:t>Aim, weaknesses, and possible developments for each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0" y="2532888"/>
            <a:ext cx="10362895" cy="0"/>
          </a:xfrm>
          <a:prstGeom prst="line">
            <a:avLst/>
          </a:prstGeom>
          <a:ln w="9525">
            <a:solidFill>
              <a:srgbClr val="E5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57783" y="2615184"/>
            <a:ext cx="530352" cy="530352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3347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143D"/>
                </a:solidFill>
                <a:latin typeface="Calibri"/>
              </a:rPr>
              <a:t>Cross-Paper Weakness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2670048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66378"/>
                </a:solidFill>
                <a:latin typeface="Calibri"/>
              </a:rPr>
              <a:t>What recurs across multiple papers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3310128"/>
            <a:ext cx="10362895" cy="0"/>
          </a:xfrm>
          <a:prstGeom prst="line">
            <a:avLst/>
          </a:prstGeom>
          <a:ln w="9525">
            <a:solidFill>
              <a:srgbClr val="E5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7783" y="3392424"/>
            <a:ext cx="530352" cy="530352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1071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143D"/>
                </a:solidFill>
                <a:latin typeface="Calibri"/>
              </a:rPr>
              <a:t>Our Research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3447288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66378"/>
                </a:solidFill>
                <a:latin typeface="Calibri"/>
              </a:rPr>
              <a:t>Eight questions the roadmap will answer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4087368"/>
            <a:ext cx="10362895" cy="0"/>
          </a:xfrm>
          <a:prstGeom prst="line">
            <a:avLst/>
          </a:prstGeom>
          <a:ln w="9525">
            <a:solidFill>
              <a:srgbClr val="E5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57783" y="4169663"/>
            <a:ext cx="530352" cy="530352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143D"/>
                </a:solidFill>
                <a:latin typeface="Calibri"/>
              </a:rPr>
              <a:t>The Unified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4224528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66378"/>
                </a:solidFill>
                <a:latin typeface="Calibri"/>
              </a:rPr>
              <a:t>Dataset, models, techniques, metrics, novel experiments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80160" y="4864607"/>
            <a:ext cx="10362895" cy="0"/>
          </a:xfrm>
          <a:prstGeom prst="line">
            <a:avLst/>
          </a:prstGeom>
          <a:ln w="9525">
            <a:solidFill>
              <a:srgbClr val="E5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57783" y="4946904"/>
            <a:ext cx="530352" cy="530352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6519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143D"/>
                </a:solidFill>
                <a:latin typeface="Calibri"/>
              </a:rPr>
              <a:t>Timeline &amp; Contributions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5001768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66378"/>
                </a:solidFill>
                <a:latin typeface="Calibri"/>
              </a:rPr>
              <a:t>Phased plan and what this adds to the 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PAPER 1 OF 7 — TAMBERG &amp; BAHSI (2024)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C143D"/>
                </a:solidFill>
                <a:latin typeface="Cambria"/>
              </a:rPr>
              <a:t>Harnessing LLMs for Vulnerability Detection: A Benchmarking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0835640" cy="105156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73736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Benchmark whether GPT-4, GPT-4-turbo, and Claude 3 Opus — using many prompting strategies — can match or beat traditional static analyzers (CodeQL, SpotBugs) at multi-class CWE detection on a curated synthetic Java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4380" y="3012948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E63946"/>
                </a:solidFill>
                <a:latin typeface="Calibri"/>
              </a:rPr>
              <a:t>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Synthetic, artificially 50/50-balanced Juliet dataset — unrealistic vs. real codebases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File-level only — no statement/line-level localization of the actual vulnerable code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Possible LLM training-data overlap with the public Juliet dataset (only partially mitigated)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Small dataset (578 files) — constrained by LLM API cost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Single language (Java)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1607" y="3012948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4547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2A9D8F"/>
                </a:solidFill>
                <a:latin typeface="Calibri"/>
              </a:rPr>
              <a:t>Possible Developments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5907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Extend the richest prompting strategies to real-world, multi-language datasets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Add reasoning-validity checks — confirm the model is right for the right reason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Run a leakage-audited, training-cutoff-calibrated holdout to quantify contamination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Combine the best prompt (dataflow/CoT) with tool-augmented, agentic context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PAPER 2 OF 7 — SHENG ET AL.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C143D"/>
                </a:solidFill>
                <a:latin typeface="Cambria"/>
              </a:rPr>
              <a:t>LLMs in Software Security: A Survey of Vulnerability Detection Techniques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0835640" cy="105156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73736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Systematically survey 58 papers (2019–2024) on LLM-based vulnerability detection, mapping model architectures, datasets, techniques, and open research challenges into one unified taxonomy.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4380" y="3012948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E63946"/>
                </a:solidFill>
                <a:latin typeface="Calibri"/>
              </a:rPr>
              <a:t>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 dirty="0">
                <a:solidFill>
                  <a:srgbClr val="1A1A2E"/>
                </a:solidFill>
                <a:latin typeface="Calibri"/>
              </a:rPr>
              <a:t>Not an experiment — synthesizes prior work, produces no new empirical results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 dirty="0">
                <a:solidFill>
                  <a:srgbClr val="1A1A2E"/>
                </a:solidFill>
                <a:latin typeface="Calibri"/>
              </a:rPr>
              <a:t>Self-identifies key gaps (repository-level coverage, dataset leakage, underexplored logic vulnerabilities) but does not resolve any of them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 dirty="0">
                <a:solidFill>
                  <a:srgbClr val="1A1A2E"/>
                </a:solidFill>
                <a:latin typeface="Calibri"/>
              </a:rPr>
              <a:t>Coverage risks going stale quickly given the pace of new LLM releases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1607" y="3012948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4547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2A9D8F"/>
                </a:solidFill>
                <a:latin typeface="Calibri"/>
              </a:rPr>
              <a:t>Possible Developments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5907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Turn each identified gap into an actual, empirically tested benchmark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Build the "dedicated, comprehensive dataset" the survey explicitly calls for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Establish a living/periodically updated survey given rapid model turnover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PAPER 3 OF 7 — AHMED ET AL.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C143D"/>
                </a:solidFill>
                <a:latin typeface="Cambria"/>
              </a:rPr>
              <a:t>SecVulEval: Statement-Level, Context-Rich C/C++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0835640" cy="105156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73736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Build a large, real-world, statement-level C/C++ benchmark (25,440 functions, 5,867 CVEs) with 5-category contextual annotations, and evaluate a 5-agent LLM pipeline on detection and context identification.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4380" y="3012948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E63946"/>
                </a:solidFill>
                <a:latin typeface="Calibri"/>
              </a:rPr>
              <a:t>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Single language (C/C++) only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Context labels are LLM-generated (GPT-4.1), validated on just 100 manually reviewed samples (82.98% accuracy)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Only the largest available size of each model tested — no size-scaling analysis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No fine-tuning tested; no repair/verification step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Statement-level F1 still very low (23.83% best) — task remains largely unsolved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1607" y="3012948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4547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2A9D8F"/>
                </a:solidFill>
                <a:latin typeface="Calibri"/>
              </a:rPr>
              <a:t>Possible Developments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5907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Extend the statement-level + context methodology to other languages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Strengthen context-label validation: larger sample, two human annotators, reported kappa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Fine-tune models directly on the rich statement/context supervision this dataset provides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Add a genuine interactive tool-use loop, not just fixed tree-sitter symbol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PAPER 4 OF 7 — STEENHOEK ET AL. (2024)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C143D"/>
                </a:solidFill>
                <a:latin typeface="Cambria"/>
              </a:rPr>
              <a:t>To Err Is Machine: Vulnerability Detection Challenges LLM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0835640" cy="105156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73736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Rigorously test whether 14 state-of-the-art LLMs across 7 prompting strategies can detect real-world vulnerabilities (SVEN dataset), and deeply analyze *why* they fail via manual error-category analysis and scaling/fine-tuning ablations.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4380" y="3012948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E63946"/>
                </a:solidFill>
                <a:latin typeface="Calibri"/>
              </a:rPr>
              <a:t>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Binary classification only — no CWE type, no statement-level localization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Function-level only — no cross-function or repository-level context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Single dataset (SVEN, C/C++ only)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Fine-tuning tested with only weak (function-level) supervision, on one dataset (PrimeVul)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1607" y="3012948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4547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2A9D8F"/>
                </a:solidFill>
                <a:latin typeface="Calibri"/>
              </a:rPr>
              <a:t>Possible Developments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5907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Extend the error-category framework to statement-level, multi-language settings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Retest fine-tuning with richer statement + context supervision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Test whether *correct* (not self-retrieved) context closes the performance gap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Test newer reasoning-focused models (o1/R1-class), as the paper itself suggests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PAPER 5 OF 7 — SHIFAT ET AL. (2026)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C143D"/>
                </a:solidFill>
                <a:latin typeface="Cambria"/>
              </a:rPr>
              <a:t>Vulnerabilities in LLM-Integrated Open-Source Systems (GHSA/OWASP)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0835640" cy="105156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73736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Empirically characterize real-world vulnerabilities in LLM-integrated open-source software by analyzing 295 GitHub Security Advisories, mapped to both CWE and the OWASP Top 10 for LLM Applications taxonomy.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4380" y="3012948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E63946"/>
                </a:solidFill>
                <a:latin typeface="Calibri"/>
              </a:rPr>
              <a:t>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Not a detection study — never tests whether any tool or LLM can actually find these vulnerabilities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Restricted to a 1-year GHSA window; keyword-based filtering may miss non-explicit cases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Relies on manual annotation (though with strong reported inter-rater agreement)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1607" y="3012948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4547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2A9D8F"/>
                </a:solidFill>
                <a:latin typeface="Calibri"/>
              </a:rPr>
              <a:t>Possible Developments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5907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Use this taxonomy to build an actual labeled detection benchmark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Extend the time window and add other disclosure sources (CVE, NVD)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Build automated LLM-involvement classifiers instead of manual keyword filtering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PAPER 6 OF 7 — GNIECIAK &amp; SZANDALA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C143D"/>
                </a:solidFill>
                <a:latin typeface="Cambria"/>
              </a:rPr>
              <a:t>LLMs vs. Static Code Analysis Tools: A C#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0835640" cy="105156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73736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Head-to-head comparison of 3 static analyzers (SonarQube, CodeQL, SnykCode) vs. 3 LLMs (GPT-4.1, Mistral Large, DeepSeek V3) on 10 real-world C# projects with 63 known vulnerabilities — precision, recall, F1, latency, and developer effort.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4380" y="3012948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E63946"/>
                </a:solidFill>
                <a:latin typeface="Calibri"/>
              </a:rPr>
              <a:t>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Very small dataset — only 63 vulnerabilities across 10 projects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Single fixed prompt — no prompt engineering explored at all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LLMs cannot correctly localize line/column (tokenization artifacts break SARIF reporting)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Hallucinated findings — e.g., flagging up-to-date libraries as "outdated"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Single language (C#)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1607" y="3012948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4547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2A9D8F"/>
                </a:solidFill>
                <a:latin typeface="Calibri"/>
              </a:rPr>
              <a:t>Possible Developments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5907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Scale the dataset up substantially for statistically stable estimates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Add systematic prompt-engineering variation, as in papers 1 and 4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Study the localization failure directly with statement-level ground truth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Build the hybrid LLM + static-analysis pipeline the paper recommends but never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PAPER 7 OF 7 — TEHRANI ET AL. (2026)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C143D"/>
                </a:solidFill>
                <a:latin typeface="Cambria"/>
              </a:rPr>
              <a:t>A Methodology for Analysing Coding Bugs for LLMs and SAST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0835640" cy="105156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73736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Provide a transparent, statistically rigorous (McNemar's paired test) comparison of GPT-4 vs. two aggregated SAST tools across 32 curated security-pitfall code scenarios spanning many CWE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4380" y="3012948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E63946"/>
                </a:solidFill>
                <a:latin typeface="Calibri"/>
              </a:rPr>
              <a:t>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Extremely small sample (n = 32) — one snippet per vulnerability class, no repeated trials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Only one LLM tested, via an opaque web UI — prompt/temperature/context not fully controllable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Snippets sourced from public tutorial sites (Snyk Learn) — high training-data leakage risk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E63946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Binary "mentioned the right vulnerability" scoring only — no statement/line-level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880360"/>
            <a:ext cx="5387187" cy="324612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1607" y="3012948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4547" y="3063240"/>
            <a:ext cx="42899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2A9D8F"/>
                </a:solidFill>
                <a:latin typeface="Calibri"/>
              </a:rPr>
              <a:t>Possible Developments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5907" y="3657600"/>
            <a:ext cx="4792827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Scale to a much larger, real-world sample for genuine statistical power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Test multiple LLMs via API with controlled prompts/temperature, not a single web UI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Audit and replace tutorial-derived snippets to reduce leakage risk</a:t>
            </a:r>
          </a:p>
          <a:p>
            <a:pPr marL="182880" indent="-182880">
              <a:lnSpc>
                <a:spcPct val="115000"/>
              </a:lnSpc>
              <a:spcAft>
                <a:spcPts val="700"/>
              </a:spcAft>
              <a:buClr>
                <a:srgbClr val="2A9D8F"/>
              </a:buClr>
              <a:buFont typeface="Calibri"/>
              <a:buChar char="—"/>
            </a:pPr>
            <a:r>
              <a:rPr sz="1130">
                <a:solidFill>
                  <a:srgbClr val="1A1A2E"/>
                </a:solidFill>
                <a:latin typeface="Calibri"/>
              </a:rPr>
              <a:t>Extend McNemar's-style rigorous testing to a full, large-scale unified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Cross-Paper Weakness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0835640" cy="822960"/>
          </a:xfrm>
          <a:prstGeom prst="roundRect">
            <a:avLst>
              <a:gd name="adj" fmla="val 7000"/>
            </a:avLst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92807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Dataset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874519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Every paper studies one language in isolation; datasets are either synthetic-and-balanced or real-world-and-tiny; context is measured (paper 3) but never exploited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79191"/>
            <a:ext cx="10835640" cy="822960"/>
          </a:xfrm>
          <a:prstGeom prst="roundRect">
            <a:avLst>
              <a:gd name="adj" fmla="val 7000"/>
            </a:avLst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Evaluation &amp;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770632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No shared metric across papers (F1 vs. Balanced Accuracy vs. binary McNemar); MCC and BLEU/ROUGE are recommended by the survey but never actually used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75304"/>
            <a:ext cx="10835640" cy="822960"/>
          </a:xfrm>
          <a:prstGeom prst="roundRect">
            <a:avLst>
              <a:gd name="adj" fmla="val 7000"/>
            </a:avLst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685032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Reasoning Validity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666744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Only papers 3 &amp; 4 check whether a correct label was reached for the correct reason — papers 1, 6, 7 never check this at 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71416"/>
            <a:ext cx="10835640" cy="822960"/>
          </a:xfrm>
          <a:prstGeom prst="roundRect">
            <a:avLst>
              <a:gd name="adj" fmla="val 7000"/>
            </a:avLst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4581144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Technique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562855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Rich prompting (1, 4) and rich architecture (3) are never combined; fine-tuning is tested once, with weak supervision (4)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67528"/>
            <a:ext cx="10835640" cy="822960"/>
          </a:xfrm>
          <a:prstGeom prst="roundRect">
            <a:avLst>
              <a:gd name="adj" fmla="val 7000"/>
            </a:avLst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5477256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Untested Territory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458968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 leakage audit; no OWASP-LLM-Top-10 detection test; no repair-and-verify pipeline; no unified cost-latency-accuracy frontier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9B3D6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9B3D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OUR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143D"/>
                </a:solidFill>
                <a:latin typeface="Cambria"/>
              </a:rPr>
              <a:t>Eight Research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87187" cy="100584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5" y="19568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47088"/>
            <a:ext cx="419846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0" i="0">
                <a:solidFill>
                  <a:srgbClr val="1A1A2E"/>
                </a:solidFill>
                <a:latin typeface="Calibri"/>
              </a:rPr>
              <a:t>Does combining the best prompting, tool-grounding, and multi-agent context retrieval beat any single technique alone?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737360"/>
            <a:ext cx="5387187" cy="100584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75323" y="19568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5987" y="1847088"/>
            <a:ext cx="419846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0" i="0">
                <a:solidFill>
                  <a:srgbClr val="1A1A2E"/>
                </a:solidFill>
                <a:latin typeface="Calibri"/>
              </a:rPr>
              <a:t>How much of reported accuracy is "right for the wrong reason" once reasoning validity is checked everywhere?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5387187" cy="100584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68095" y="30998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90088"/>
            <a:ext cx="419846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0" i="0">
                <a:solidFill>
                  <a:srgbClr val="1A1A2E"/>
                </a:solidFill>
                <a:latin typeface="Calibri"/>
              </a:rPr>
              <a:t>Does giving models correctly retrieved context — not self-retrieved — close the performance gap?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880360"/>
            <a:ext cx="5387187" cy="100584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75323" y="30998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5987" y="2990088"/>
            <a:ext cx="419846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0" i="0">
                <a:solidFill>
                  <a:srgbClr val="1A1A2E"/>
                </a:solidFill>
                <a:latin typeface="Calibri"/>
              </a:rPr>
              <a:t>Does fine-tuning on rich statement + context supervision change the earlier negative fine-tuning result?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5387187" cy="100584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68095" y="42428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33088"/>
            <a:ext cx="419846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0" i="0">
                <a:solidFill>
                  <a:srgbClr val="1A1A2E"/>
                </a:solidFill>
                <a:latin typeface="Calibri"/>
              </a:rPr>
              <a:t>Can LLMs detect emerging LLM-specific/agentic vulnerability classes (OWASP LLM Top 10)?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5867" y="4023360"/>
            <a:ext cx="5387187" cy="100584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75323" y="42428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5987" y="4133088"/>
            <a:ext cx="419846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0" i="0">
                <a:solidFill>
                  <a:srgbClr val="1A1A2E"/>
                </a:solidFill>
                <a:latin typeface="Calibri"/>
              </a:rPr>
              <a:t>What is the accuracy–cost–latency Pareto frontier across the full technique matrix?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66360"/>
            <a:ext cx="5387187" cy="100584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68095" y="53858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276088"/>
            <a:ext cx="419846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0" i="0">
                <a:solidFill>
                  <a:srgbClr val="1A1A2E"/>
                </a:solidFill>
                <a:latin typeface="Calibri"/>
              </a:rPr>
              <a:t>Does an automatically verified detect→patch→verify pipeline produce trustworthy fixes?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5867" y="5166360"/>
            <a:ext cx="5387187" cy="100584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75323" y="53858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5987" y="5276088"/>
            <a:ext cx="419846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0" i="0">
                <a:solidFill>
                  <a:srgbClr val="1A1A2E"/>
                </a:solidFill>
                <a:latin typeface="Calibri"/>
              </a:rPr>
              <a:t>How much does training-data leakage inflate reported performance?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OUR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143D"/>
                </a:solidFill>
                <a:latin typeface="Cambria"/>
              </a:rPr>
              <a:t>How the Pieces Fit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984796" cy="310896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57574" y="24140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171047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C143D"/>
                </a:solidFill>
                <a:latin typeface="Calibr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31920"/>
            <a:ext cx="171047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Multi-language,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real-world + synthetic,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statement-level</a:t>
            </a:r>
          </a:p>
        </p:txBody>
      </p:sp>
      <p:sp>
        <p:nvSpPr>
          <p:cNvPr id="9" name="Chevron 8"/>
          <p:cNvSpPr/>
          <p:nvPr/>
        </p:nvSpPr>
        <p:spPr>
          <a:xfrm>
            <a:off x="2551724" y="3611880"/>
            <a:ext cx="256032" cy="365760"/>
          </a:xfrm>
          <a:prstGeom prst="chevr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26044" y="2194560"/>
            <a:ext cx="1984796" cy="310896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34978" y="24140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3204" y="3154680"/>
            <a:ext cx="171047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C143D"/>
                </a:solidFill>
                <a:latin typeface="Calibri"/>
              </a:rPr>
              <a:t>Models &amp;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C143D"/>
                </a:solidFill>
                <a:latin typeface="Calibri"/>
              </a:rPr>
              <a:t>Techniques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3204" y="3931920"/>
            <a:ext cx="171047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Prompting, multi-agent,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tool-augmented,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fine-tuned</a:t>
            </a:r>
          </a:p>
        </p:txBody>
      </p:sp>
      <p:sp>
        <p:nvSpPr>
          <p:cNvPr id="14" name="Chevron 13"/>
          <p:cNvSpPr/>
          <p:nvPr/>
        </p:nvSpPr>
        <p:spPr>
          <a:xfrm>
            <a:off x="4829129" y="3611880"/>
            <a:ext cx="256032" cy="365760"/>
          </a:xfrm>
          <a:prstGeom prst="chevr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03449" y="2194560"/>
            <a:ext cx="1984796" cy="310896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12383" y="24140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0609" y="3154680"/>
            <a:ext cx="171047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C143D"/>
                </a:solidFill>
                <a:latin typeface="Calibri"/>
              </a:rP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0609" y="3931920"/>
            <a:ext cx="171047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8 granularities,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full metric suite,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reasoning validity</a:t>
            </a:r>
          </a:p>
        </p:txBody>
      </p:sp>
      <p:sp>
        <p:nvSpPr>
          <p:cNvPr id="19" name="Chevron 18"/>
          <p:cNvSpPr/>
          <p:nvPr/>
        </p:nvSpPr>
        <p:spPr>
          <a:xfrm>
            <a:off x="7106533" y="3611880"/>
            <a:ext cx="256032" cy="365760"/>
          </a:xfrm>
          <a:prstGeom prst="chevr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80853" y="2194560"/>
            <a:ext cx="1984796" cy="310896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89788" y="24140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8013" y="3154680"/>
            <a:ext cx="171047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C143D"/>
                </a:solidFill>
                <a:latin typeface="Calibri"/>
              </a:rPr>
              <a:t>Novel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C143D"/>
                </a:solidFill>
                <a:latin typeface="Calibri"/>
              </a:rPr>
              <a:t>Extensions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8013" y="3931920"/>
            <a:ext cx="171047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Leakage audit, OWASP-LLM,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cost frontier,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repair + verify</a:t>
            </a:r>
          </a:p>
        </p:txBody>
      </p:sp>
      <p:sp>
        <p:nvSpPr>
          <p:cNvPr id="24" name="Chevron 23"/>
          <p:cNvSpPr/>
          <p:nvPr/>
        </p:nvSpPr>
        <p:spPr>
          <a:xfrm>
            <a:off x="9383938" y="3611880"/>
            <a:ext cx="256032" cy="365760"/>
          </a:xfrm>
          <a:prstGeom prst="chevr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58258" y="2194560"/>
            <a:ext cx="1984796" cy="310896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67192" y="2414016"/>
            <a:ext cx="566928" cy="566928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5418" y="3154680"/>
            <a:ext cx="171047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C143D"/>
                </a:solidFill>
                <a:latin typeface="Calibri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5418" y="3931920"/>
            <a:ext cx="171047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McNemar's test,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bootstrap CIs,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80" b="0" i="0">
                <a:solidFill>
                  <a:srgbClr val="1A1A2E"/>
                </a:solidFill>
                <a:latin typeface="Calibri"/>
              </a:rPr>
              <a:t>repeated runs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321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666378"/>
                </a:solidFill>
                <a:latin typeface="Calibri"/>
              </a:rPr>
              <a:t>Each stage answers one or more of the eight research questions, and each design choice traces back to a specific weakness identified in the seven papers.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ROADMAP 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143D"/>
                </a:solidFill>
                <a:latin typeface="Cambria"/>
              </a:rPr>
              <a:t>Dataset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49240" cy="3749039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C143D"/>
                </a:solidFill>
                <a:latin typeface="Calibri"/>
              </a:rPr>
              <a:t>Two Parallel Tracks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4800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20000"/>
              </a:lnSpc>
              <a:spcAft>
                <a:spcPts val="1000"/>
              </a:spcAft>
              <a:buClr>
                <a:srgbClr val="2E2463"/>
              </a:buClr>
              <a:buFont typeface="Calibri"/>
              <a:buChar char="—"/>
            </a:pPr>
            <a:r>
              <a:rPr sz="1200" b="1">
                <a:solidFill>
                  <a:srgbClr val="1A1A2E"/>
                </a:solidFill>
                <a:latin typeface="Calibri"/>
              </a:rPr>
              <a:t>Real-world track: </a:t>
            </a:r>
            <a:r>
              <a:rPr sz="1200">
                <a:solidFill>
                  <a:srgbClr val="1A1A2E"/>
                </a:solidFill>
                <a:latin typeface="Calibri"/>
              </a:rPr>
              <a:t>CVE-fix-commit-derived, extending SecVulEval's methodology beyond C/C++ to Java, Python, and JS/TS</a:t>
            </a:r>
          </a:p>
          <a:p>
            <a:pPr marL="182880" indent="-182880">
              <a:lnSpc>
                <a:spcPct val="120000"/>
              </a:lnSpc>
              <a:spcAft>
                <a:spcPts val="1000"/>
              </a:spcAft>
              <a:buClr>
                <a:srgbClr val="2E2463"/>
              </a:buClr>
              <a:buFont typeface="Calibri"/>
              <a:buChar char="—"/>
            </a:pPr>
            <a:r>
              <a:rPr sz="1200" b="1">
                <a:solidFill>
                  <a:srgbClr val="1A1A2E"/>
                </a:solidFill>
                <a:latin typeface="Calibri"/>
              </a:rPr>
              <a:t>Synthetic track: </a:t>
            </a:r>
            <a:r>
              <a:rPr sz="1200">
                <a:solidFill>
                  <a:srgbClr val="1A1A2E"/>
                </a:solidFill>
                <a:latin typeface="Calibri"/>
              </a:rPr>
              <a:t>Juliet-style controlled corpus per language, for clean ablations with certain ground truth</a:t>
            </a:r>
          </a:p>
          <a:p>
            <a:pPr marL="182880" indent="-182880">
              <a:lnSpc>
                <a:spcPct val="120000"/>
              </a:lnSpc>
              <a:spcAft>
                <a:spcPts val="1000"/>
              </a:spcAft>
              <a:buClr>
                <a:srgbClr val="2E2463"/>
              </a:buClr>
              <a:buFont typeface="Calibri"/>
              <a:buChar char="—"/>
            </a:pPr>
            <a:r>
              <a:rPr sz="1200" b="1">
                <a:solidFill>
                  <a:srgbClr val="1A1A2E"/>
                </a:solidFill>
                <a:latin typeface="Calibri"/>
              </a:rPr>
              <a:t>5 languages total </a:t>
            </a:r>
            <a:r>
              <a:rPr sz="1200">
                <a:solidFill>
                  <a:srgbClr val="1A1A2E"/>
                </a:solidFill>
                <a:latin typeface="Calibri"/>
              </a:rPr>
              <a:t>— cross-language generalization tested for the first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49240" cy="3749039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C143D"/>
                </a:solidFill>
                <a:latin typeface="Calibri"/>
              </a:rPr>
              <a:t>Rich, Validated Annotation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31720"/>
            <a:ext cx="4800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20000"/>
              </a:lnSpc>
              <a:spcAft>
                <a:spcPts val="900"/>
              </a:spcAft>
              <a:buClr>
                <a:srgbClr val="2E2463"/>
              </a:buClr>
              <a:buFont typeface="Calibri"/>
              <a:buChar char="—"/>
            </a:pPr>
            <a:r>
              <a:rPr sz="1200">
                <a:solidFill>
                  <a:srgbClr val="1A1A2E"/>
                </a:solidFill>
                <a:latin typeface="Calibri"/>
              </a:rPr>
              <a:t>Function-, statement-, and repository-level labels (nested)</a:t>
            </a:r>
          </a:p>
          <a:p>
            <a:pPr marL="182880" indent="-182880">
              <a:lnSpc>
                <a:spcPct val="120000"/>
              </a:lnSpc>
              <a:spcAft>
                <a:spcPts val="900"/>
              </a:spcAft>
              <a:buClr>
                <a:srgbClr val="2E2463"/>
              </a:buClr>
              <a:buFont typeface="Calibri"/>
              <a:buChar char="—"/>
            </a:pPr>
            <a:r>
              <a:rPr sz="1200">
                <a:solidFill>
                  <a:srgbClr val="1A1A2E"/>
                </a:solidFill>
                <a:latin typeface="Calibri"/>
              </a:rPr>
              <a:t>5-category context annotation (args, external calls, types, globals, environment), 2-annotator validated with reported kappa</a:t>
            </a:r>
          </a:p>
          <a:p>
            <a:pPr marL="182880" indent="-182880">
              <a:lnSpc>
                <a:spcPct val="120000"/>
              </a:lnSpc>
              <a:spcAft>
                <a:spcPts val="900"/>
              </a:spcAft>
              <a:buClr>
                <a:srgbClr val="2E2463"/>
              </a:buClr>
              <a:buFont typeface="Calibri"/>
              <a:buChar char="—"/>
            </a:pPr>
            <a:r>
              <a:rPr sz="1200">
                <a:solidFill>
                  <a:srgbClr val="1A1A2E"/>
                </a:solidFill>
                <a:latin typeface="Calibri"/>
              </a:rPr>
              <a:t>MD5 de-duplication + a training-cutoff-calibrated leakage-audit holdout</a:t>
            </a:r>
          </a:p>
          <a:p>
            <a:pPr marL="182880" indent="-182880">
              <a:lnSpc>
                <a:spcPct val="120000"/>
              </a:lnSpc>
              <a:spcAft>
                <a:spcPts val="900"/>
              </a:spcAft>
              <a:buClr>
                <a:srgbClr val="2E2463"/>
              </a:buClr>
              <a:buFont typeface="Calibri"/>
              <a:buChar char="—"/>
            </a:pPr>
            <a:r>
              <a:rPr sz="1200">
                <a:solidFill>
                  <a:srgbClr val="1A1A2E"/>
                </a:solidFill>
                <a:latin typeface="Calibri"/>
              </a:rPr>
              <a:t>A dedicated OWASP-LLM-Top-10 subset built from GHSA advisories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ROADMAP 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143D"/>
                </a:solidFill>
                <a:latin typeface="Cambria"/>
              </a:rPr>
              <a:t>Models &amp; Detection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87187" cy="160020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920240"/>
            <a:ext cx="48385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C143D"/>
                </a:solidFill>
                <a:latin typeface="Calibri"/>
              </a:rPr>
              <a:t>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483854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Commercial general-purpose (GPT-4/Claude/Gemini-class); open-source code models at multiple sizes; dedicated reasoning models (o1/R1-class); base vs. instruction-tuned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737360"/>
            <a:ext cx="5387187" cy="160020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0187" y="1920240"/>
            <a:ext cx="48385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C143D"/>
                </a:solidFill>
                <a:latin typeface="Calibri"/>
              </a:rPr>
              <a:t>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0187" y="2331720"/>
            <a:ext cx="483854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Zero/few-shot; CoT variants (basic, 8-step, CVE-grounded, static-analysis-grounded); self-consistency, Tree-of-Thoughts, self-refinement, contrastive pairs, dataflow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11879"/>
            <a:ext cx="5387187" cy="160020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794759"/>
            <a:ext cx="48385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C143D"/>
                </a:solidFill>
                <a:latin typeface="Calibri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06240"/>
            <a:ext cx="483854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Multi-agent pipeline (normalize → plan → retrieve context → detect → validate); NEW tool-augmented agentic condition with live static-analyzer and repo-search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3611879"/>
            <a:ext cx="5387187" cy="160020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0187" y="3794759"/>
            <a:ext cx="48385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C143D"/>
                </a:solidFill>
                <a:latin typeface="Calibri"/>
              </a:rPr>
              <a:t>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0187" y="4206240"/>
            <a:ext cx="483854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Full fine-tuning and PEFT/LoRA, trained on rich statement-level + context supervision — not just function-level binary 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66378"/>
                </a:solidFill>
                <a:latin typeface="Calibri"/>
              </a:rPr>
              <a:t>Every technique is run against every dataset track, so we can finally test whether combining the best of each prior paper beats any single one alone (RQ1).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ROADMAP 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143D"/>
                </a:solidFill>
                <a:latin typeface="Cambria"/>
              </a:rPr>
              <a:t>Evaluation Granularities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C143D"/>
                </a:solidFill>
                <a:latin typeface="Calibri"/>
              </a:rPr>
              <a:t>8 sub-tasks, from well-tested to entirely novel: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02153" cy="73152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32783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30" b="0" i="0">
                <a:solidFill>
                  <a:srgbClr val="1A1A2E"/>
                </a:solidFill>
                <a:latin typeface="Calibri"/>
              </a:rPr>
              <a:t>Function binary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9393" y="2103120"/>
            <a:ext cx="2602153" cy="73152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16553" y="2103120"/>
            <a:ext cx="232783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30" b="0" i="0">
                <a:solidFill>
                  <a:srgbClr val="1A1A2E"/>
                </a:solidFill>
                <a:latin typeface="Calibri"/>
              </a:rPr>
              <a:t>Function multi-class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2103120"/>
            <a:ext cx="2602153" cy="73152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7307" y="2103120"/>
            <a:ext cx="232783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30" b="0" i="0">
                <a:solidFill>
                  <a:srgbClr val="1A1A2E"/>
                </a:solidFill>
                <a:latin typeface="Calibri"/>
              </a:rPr>
              <a:t>Statement + reasoning validity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40901" y="2103120"/>
            <a:ext cx="2602153" cy="731520"/>
          </a:xfrm>
          <a:prstGeom prst="roundRect">
            <a:avLst>
              <a:gd name="adj" fmla="val 7000"/>
            </a:avLst>
          </a:prstGeom>
          <a:solidFill>
            <a:srgbClr val="F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78061" y="2103120"/>
            <a:ext cx="232783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30" b="0" i="0">
                <a:solidFill>
                  <a:srgbClr val="1A1A2E"/>
                </a:solidFill>
                <a:latin typeface="Calibri"/>
              </a:rPr>
              <a:t>Context identification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2602153" cy="73152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971800"/>
            <a:ext cx="232783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30" b="1" i="0">
                <a:solidFill>
                  <a:srgbClr val="2A9D8F"/>
                </a:solidFill>
                <a:latin typeface="Calibri"/>
              </a:rPr>
              <a:t>Repository-level (realistic imbalance)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9393" y="2971800"/>
            <a:ext cx="2602153" cy="73152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16553" y="2971800"/>
            <a:ext cx="232783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30" b="1" i="0">
                <a:solidFill>
                  <a:srgbClr val="2A9D8F"/>
                </a:solidFill>
                <a:latin typeface="Calibri"/>
              </a:rPr>
              <a:t>Severity / triage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2971800"/>
            <a:ext cx="2602153" cy="73152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7307" y="2971800"/>
            <a:ext cx="232783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30" b="1" i="0">
                <a:solidFill>
                  <a:srgbClr val="2A9D8F"/>
                </a:solidFill>
                <a:latin typeface="Calibri"/>
              </a:rPr>
              <a:t>OWASP-LLM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0901" y="2971800"/>
            <a:ext cx="2602153" cy="731520"/>
          </a:xfrm>
          <a:prstGeom prst="roundRect">
            <a:avLst>
              <a:gd name="adj" fmla="val 7000"/>
            </a:avLst>
          </a:prstGeom>
          <a:solidFill>
            <a:srgbClr val="E7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78061" y="2971800"/>
            <a:ext cx="2327833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30" b="1" i="0">
                <a:solidFill>
                  <a:srgbClr val="2A9D8F"/>
                </a:solidFill>
                <a:latin typeface="Calibri"/>
              </a:rPr>
              <a:t>Repair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2A9D8F"/>
                </a:solidFill>
                <a:latin typeface="Calibri"/>
              </a:rPr>
              <a:t>* = novel, not tested by any of the seven papers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C143D"/>
                </a:solidFill>
                <a:latin typeface="Calibri"/>
              </a:rPr>
              <a:t>Metric suite: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20000"/>
              </a:lnSpc>
              <a:spcAft>
                <a:spcPts val="600"/>
              </a:spcAft>
              <a:buClr>
                <a:srgbClr val="2E2463"/>
              </a:buClr>
              <a:buFont typeface="Calibri"/>
              <a:buChar char="—"/>
            </a:pPr>
            <a:r>
              <a:rPr sz="1150" b="1">
                <a:solidFill>
                  <a:srgbClr val="1A1A2E"/>
                </a:solidFill>
                <a:latin typeface="Calibri"/>
              </a:rPr>
              <a:t>Standard: </a:t>
            </a:r>
            <a:r>
              <a:rPr sz="1150">
                <a:solidFill>
                  <a:srgbClr val="1A1A2E"/>
                </a:solidFill>
                <a:latin typeface="Calibri"/>
              </a:rPr>
              <a:t>Accuracy, Precision, Recall, F1, Balanced Accuracy</a:t>
            </a:r>
          </a:p>
          <a:p>
            <a:pPr marL="182880" indent="-182880">
              <a:lnSpc>
                <a:spcPct val="120000"/>
              </a:lnSpc>
              <a:spcAft>
                <a:spcPts val="600"/>
              </a:spcAft>
              <a:buClr>
                <a:srgbClr val="2E2463"/>
              </a:buClr>
              <a:buFont typeface="Calibri"/>
              <a:buChar char="—"/>
            </a:pPr>
            <a:r>
              <a:rPr sz="1150" b="1">
                <a:solidFill>
                  <a:srgbClr val="1A1A2E"/>
                </a:solidFill>
                <a:latin typeface="Calibri"/>
              </a:rPr>
              <a:t>Added because prior papers recommend but never use them: </a:t>
            </a:r>
            <a:r>
              <a:rPr sz="1150">
                <a:solidFill>
                  <a:srgbClr val="1A1A2E"/>
                </a:solidFill>
                <a:latin typeface="Calibri"/>
              </a:rPr>
              <a:t>MCC (imbalance-robust), BLEU/ROUGE (explanation quality)</a:t>
            </a:r>
          </a:p>
          <a:p>
            <a:pPr marL="182880" indent="-182880">
              <a:lnSpc>
                <a:spcPct val="120000"/>
              </a:lnSpc>
              <a:spcAft>
                <a:spcPts val="600"/>
              </a:spcAft>
              <a:buClr>
                <a:srgbClr val="2E2463"/>
              </a:buClr>
              <a:buFont typeface="Calibri"/>
              <a:buChar char="—"/>
            </a:pPr>
            <a:r>
              <a:rPr sz="1150" b="1">
                <a:solidFill>
                  <a:srgbClr val="1A1A2E"/>
                </a:solidFill>
                <a:latin typeface="Calibri"/>
              </a:rPr>
              <a:t>New, formalized: </a:t>
            </a:r>
            <a:r>
              <a:rPr sz="1150">
                <a:solidFill>
                  <a:srgbClr val="1A1A2E"/>
                </a:solidFill>
                <a:latin typeface="Calibri"/>
              </a:rPr>
              <a:t>statement-level localization accuracy, reasoning-validity rate, context-identification accuracy, cost ($)/latency (s), repair success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ROADMAP 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Five Genuinely New Experiments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0835640" cy="868680"/>
          </a:xfrm>
          <a:prstGeom prst="roundRect">
            <a:avLst>
              <a:gd name="adj" fmla="val 7000"/>
            </a:avLst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0099" y="1965960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1C143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74519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Leakage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856231"/>
            <a:ext cx="7406640" cy="722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Compare full-corpus vs. training-cutoff-calibrated holdout performance to measure contamination inflation directly (RQ8)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0835640" cy="868680"/>
          </a:xfrm>
          <a:prstGeom prst="roundRect">
            <a:avLst>
              <a:gd name="adj" fmla="val 7000"/>
            </a:avLst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0099" y="2880360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1C143D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OWASP-LLM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770632"/>
            <a:ext cx="7406640" cy="722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First test of whether detection pipelines transfer to prompt injection, excessive agency, and other LLM-specific vulnerability classes (RQ5)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80"/>
            <a:ext cx="10835640" cy="868680"/>
          </a:xfrm>
          <a:prstGeom prst="roundRect">
            <a:avLst>
              <a:gd name="adj" fmla="val 7000"/>
            </a:avLst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0099" y="3794759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1C143D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0332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Rich 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685032"/>
            <a:ext cx="7406640" cy="722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Retest fine-tuning using statement + context supervision instead of function-level-only labels (RQ4)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10835640" cy="868680"/>
          </a:xfrm>
          <a:prstGeom prst="roundRect">
            <a:avLst>
              <a:gd name="adj" fmla="val 7000"/>
            </a:avLst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0099" y="4709159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1C143D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61772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Cost–Latency Frontier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4599432"/>
            <a:ext cx="7406640" cy="722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 Pareto frontier across every model×technique combo — CI/CD-viable vs. audit-only (RQ6)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40680"/>
            <a:ext cx="10835640" cy="868680"/>
          </a:xfrm>
          <a:prstGeom prst="roundRect">
            <a:avLst>
              <a:gd name="adj" fmla="val 7000"/>
            </a:avLst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0099" y="5623559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1C143D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53212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Repair &amp;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513832"/>
            <a:ext cx="7406640" cy="722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Auto-generate patches, then verify: compiles, passes tests, blocks the exploit, introduces nothing new (RQ7)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9B3D6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9B3D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ROADMAP 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143D"/>
                </a:solidFill>
                <a:latin typeface="Cambria"/>
              </a:rPr>
              <a:t>Statistical Validation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6984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30000"/>
              </a:lnSpc>
              <a:spcAft>
                <a:spcPts val="1200"/>
              </a:spcAft>
              <a:buClr>
                <a:srgbClr val="2E2463"/>
              </a:buClr>
              <a:buFont typeface="Calibri"/>
              <a:buChar char="—"/>
            </a:pPr>
            <a:r>
              <a:rPr sz="1350" b="1">
                <a:solidFill>
                  <a:srgbClr val="1A1A2E"/>
                </a:solidFill>
                <a:latin typeface="Calibri"/>
              </a:rPr>
              <a:t>Repeated runs: </a:t>
            </a:r>
            <a:r>
              <a:rPr sz="1350">
                <a:solidFill>
                  <a:srgbClr val="1A1A2E"/>
                </a:solidFill>
                <a:latin typeface="Calibri"/>
              </a:rPr>
              <a:t>≥3 trials for every non-deterministic condition to report variance, not just a single point estimate</a:t>
            </a:r>
          </a:p>
          <a:p>
            <a:pPr marL="182880" indent="-182880">
              <a:lnSpc>
                <a:spcPct val="130000"/>
              </a:lnSpc>
              <a:spcAft>
                <a:spcPts val="1200"/>
              </a:spcAft>
              <a:buClr>
                <a:srgbClr val="2E2463"/>
              </a:buClr>
              <a:buFont typeface="Calibri"/>
              <a:buChar char="—"/>
            </a:pPr>
            <a:r>
              <a:rPr sz="1350" b="1">
                <a:solidFill>
                  <a:srgbClr val="1A1A2E"/>
                </a:solidFill>
                <a:latin typeface="Calibri"/>
              </a:rPr>
              <a:t>Paired significance testing: </a:t>
            </a:r>
            <a:r>
              <a:rPr sz="1350">
                <a:solidFill>
                  <a:srgbClr val="1A1A2E"/>
                </a:solidFill>
                <a:latin typeface="Calibri"/>
              </a:rPr>
              <a:t>McNemar's test (following paper 7's method) applied at real scale — thousands of paired samples, not 32</a:t>
            </a:r>
          </a:p>
          <a:p>
            <a:pPr marL="182880" indent="-182880">
              <a:lnSpc>
                <a:spcPct val="130000"/>
              </a:lnSpc>
              <a:spcAft>
                <a:spcPts val="1200"/>
              </a:spcAft>
              <a:buClr>
                <a:srgbClr val="2E2463"/>
              </a:buClr>
              <a:buFont typeface="Calibri"/>
              <a:buChar char="—"/>
            </a:pPr>
            <a:r>
              <a:rPr sz="1350" b="1">
                <a:solidFill>
                  <a:srgbClr val="1A1A2E"/>
                </a:solidFill>
                <a:latin typeface="Calibri"/>
              </a:rPr>
              <a:t>Bootstrap confidence intervals: </a:t>
            </a:r>
            <a:r>
              <a:rPr sz="1350">
                <a:solidFill>
                  <a:srgbClr val="1A1A2E"/>
                </a:solidFill>
                <a:latin typeface="Calibri"/>
              </a:rPr>
              <a:t>reported for every F1/MCC/Balanced-Accuracy comparison between conditions</a:t>
            </a:r>
          </a:p>
          <a:p>
            <a:pPr marL="182880" indent="-182880">
              <a:lnSpc>
                <a:spcPct val="130000"/>
              </a:lnSpc>
              <a:spcAft>
                <a:spcPts val="1200"/>
              </a:spcAft>
              <a:buClr>
                <a:srgbClr val="2E2463"/>
              </a:buClr>
              <a:buFont typeface="Calibri"/>
              <a:buChar char="—"/>
            </a:pPr>
            <a:r>
              <a:rPr sz="1350" b="1">
                <a:solidFill>
                  <a:srgbClr val="1A1A2E"/>
                </a:solidFill>
                <a:latin typeface="Calibri"/>
              </a:rPr>
              <a:t>Scaling &amp; correlation analysis: </a:t>
            </a:r>
            <a:r>
              <a:rPr sz="1350">
                <a:solidFill>
                  <a:srgbClr val="1A1A2E"/>
                </a:solidFill>
                <a:latin typeface="Calibri"/>
              </a:rPr>
              <a:t>regression statistics (R², p-value) for model-size and training-data-volume effects, replicating paper 4's methodology on the new dataset</a:t>
            </a:r>
          </a:p>
          <a:p>
            <a:pPr marL="182880" indent="-182880">
              <a:lnSpc>
                <a:spcPct val="130000"/>
              </a:lnSpc>
              <a:spcAft>
                <a:spcPts val="1200"/>
              </a:spcAft>
              <a:buClr>
                <a:srgbClr val="2E2463"/>
              </a:buClr>
              <a:buFont typeface="Calibri"/>
              <a:buChar char="—"/>
            </a:pPr>
            <a:r>
              <a:rPr sz="1350" b="1">
                <a:solidFill>
                  <a:srgbClr val="1A1A2E"/>
                </a:solidFill>
                <a:latin typeface="Calibri"/>
              </a:rPr>
              <a:t>Confound checks: </a:t>
            </a:r>
            <a:r>
              <a:rPr sz="1350">
                <a:solidFill>
                  <a:srgbClr val="1A1A2E"/>
                </a:solidFill>
                <a:latin typeface="Calibri"/>
              </a:rPr>
              <a:t>Mann-Whitney U tests for function length and other candidate confounds, replicating the independent findings of papers 3 and 4</a:t>
            </a:r>
          </a:p>
          <a:p>
            <a:pPr marL="182880" indent="-182880">
              <a:lnSpc>
                <a:spcPct val="130000"/>
              </a:lnSpc>
              <a:spcAft>
                <a:spcPts val="1200"/>
              </a:spcAft>
              <a:buClr>
                <a:srgbClr val="2E2463"/>
              </a:buClr>
              <a:buFont typeface="Calibri"/>
              <a:buChar char="—"/>
            </a:pPr>
            <a:r>
              <a:rPr sz="1350" b="1">
                <a:solidFill>
                  <a:srgbClr val="1A1A2E"/>
                </a:solidFill>
                <a:latin typeface="Calibri"/>
              </a:rPr>
              <a:t>Inter-annotator agreement: </a:t>
            </a:r>
            <a:r>
              <a:rPr sz="1350">
                <a:solidFill>
                  <a:srgbClr val="1A1A2E"/>
                </a:solidFill>
                <a:latin typeface="Calibri"/>
              </a:rPr>
              <a:t>Cohen's kappa and Gwet's AC1 reported for all manual annotation, following papers 4 and 5's protocols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143D"/>
                </a:solidFill>
                <a:latin typeface="Cambria"/>
              </a:rPr>
              <a:t>Experimental Phases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91640"/>
          <a:ext cx="10698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578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500"/>
              </a:spcAft>
              <a:buClr>
                <a:srgbClr val="2E2463"/>
              </a:buClr>
              <a:buFont typeface="Calibri"/>
              <a:buChar char="—"/>
            </a:pPr>
            <a:r>
              <a:rPr sz="1150" b="1">
                <a:solidFill>
                  <a:srgbClr val="1A1A2E"/>
                </a:solidFill>
                <a:latin typeface="Calibri"/>
              </a:rPr>
              <a:t>Phases 0–1 (~10.5 wks): </a:t>
            </a:r>
            <a:r>
              <a:rPr sz="1150">
                <a:solidFill>
                  <a:srgbClr val="1A1A2E"/>
                </a:solidFill>
                <a:latin typeface="Calibri"/>
              </a:rPr>
              <a:t>build the corpus/harness, then sanity-check by replicating prior papers' findings</a:t>
            </a:r>
          </a:p>
          <a:p>
            <a:pPr marL="182880" indent="-182880">
              <a:lnSpc>
                <a:spcPct val="115000"/>
              </a:lnSpc>
              <a:spcAft>
                <a:spcPts val="500"/>
              </a:spcAft>
              <a:buClr>
                <a:srgbClr val="2E2463"/>
              </a:buClr>
              <a:buFont typeface="Calibri"/>
              <a:buChar char="—"/>
            </a:pPr>
            <a:r>
              <a:rPr sz="1150" b="1">
                <a:solidFill>
                  <a:srgbClr val="1A1A2E"/>
                </a:solidFill>
                <a:latin typeface="Calibri"/>
              </a:rPr>
              <a:t>Phases 2–4 (~23.5 wks, partially parallel): </a:t>
            </a:r>
            <a:r>
              <a:rPr sz="1150">
                <a:solidFill>
                  <a:srgbClr val="1A1A2E"/>
                </a:solidFill>
                <a:latin typeface="Calibri"/>
              </a:rPr>
              <a:t>full technique sweep, fine-tuning ablations, and all five novel experiments</a:t>
            </a:r>
          </a:p>
          <a:p>
            <a:pPr marL="182880" indent="-182880">
              <a:lnSpc>
                <a:spcPct val="115000"/>
              </a:lnSpc>
              <a:spcAft>
                <a:spcPts val="500"/>
              </a:spcAft>
              <a:buClr>
                <a:srgbClr val="2E2463"/>
              </a:buClr>
              <a:buFont typeface="Calibri"/>
              <a:buChar char="—"/>
            </a:pPr>
            <a:r>
              <a:rPr sz="1150" b="1">
                <a:solidFill>
                  <a:srgbClr val="1A1A2E"/>
                </a:solidFill>
                <a:latin typeface="Calibri"/>
              </a:rPr>
              <a:t>Phase 5 (~7 wks): </a:t>
            </a:r>
            <a:r>
              <a:rPr sz="1150">
                <a:solidFill>
                  <a:srgbClr val="1A1A2E"/>
                </a:solidFill>
                <a:latin typeface="Calibri"/>
              </a:rPr>
              <a:t>final statistical validation, Pareto frontier, and write-up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637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SO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Expected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6984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25000"/>
              </a:lnSpc>
              <a:spcAft>
                <a:spcPts val="1300"/>
              </a:spcAft>
              <a:buClr>
                <a:srgbClr val="C9A227"/>
              </a:buClr>
              <a:buFont typeface="Calibri"/>
              <a:buChar char="—"/>
            </a:pPr>
            <a:r>
              <a:rPr sz="1350" b="1">
                <a:solidFill>
                  <a:srgbClr val="FFFFFF"/>
                </a:solidFill>
                <a:latin typeface="Calibri"/>
              </a:rPr>
              <a:t>A unified, multi-language, multi-track benchmark </a:t>
            </a:r>
            <a:r>
              <a:rPr sz="1350">
                <a:solidFill>
                  <a:srgbClr val="FFFFFF"/>
                </a:solidFill>
                <a:latin typeface="Calibri"/>
              </a:rPr>
              <a:t>that strictly exceeds the scope of any single one of the seven source papers</a:t>
            </a:r>
          </a:p>
          <a:p>
            <a:pPr marL="182880" indent="-182880">
              <a:lnSpc>
                <a:spcPct val="125000"/>
              </a:lnSpc>
              <a:spcAft>
                <a:spcPts val="1300"/>
              </a:spcAft>
              <a:buClr>
                <a:srgbClr val="C9A227"/>
              </a:buClr>
              <a:buFont typeface="Calibri"/>
              <a:buChar char="—"/>
            </a:pPr>
            <a:r>
              <a:rPr sz="1350" b="1">
                <a:solidFill>
                  <a:srgbClr val="FFFFFF"/>
                </a:solidFill>
                <a:latin typeface="Calibri"/>
              </a:rPr>
              <a:t>The first systematic reasoning-validity measurement </a:t>
            </a:r>
            <a:r>
              <a:rPr sz="1350">
                <a:solidFill>
                  <a:srgbClr val="FFFFFF"/>
                </a:solidFill>
                <a:latin typeface="Calibri"/>
              </a:rPr>
              <a:t>across the full space of techniques, quantifying genuine vs. spurious progress</a:t>
            </a:r>
          </a:p>
          <a:p>
            <a:pPr marL="182880" indent="-182880">
              <a:lnSpc>
                <a:spcPct val="125000"/>
              </a:lnSpc>
              <a:spcAft>
                <a:spcPts val="1300"/>
              </a:spcAft>
              <a:buClr>
                <a:srgbClr val="C9A227"/>
              </a:buClr>
              <a:buFont typeface="Calibri"/>
              <a:buChar char="—"/>
            </a:pPr>
            <a:r>
              <a:rPr sz="1350" b="1">
                <a:solidFill>
                  <a:srgbClr val="FFFFFF"/>
                </a:solidFill>
                <a:latin typeface="Calibri"/>
              </a:rPr>
              <a:t>The first calibrated training-data leakage audit </a:t>
            </a:r>
            <a:r>
              <a:rPr sz="1350">
                <a:solidFill>
                  <a:srgbClr val="FFFFFF"/>
                </a:solidFill>
                <a:latin typeface="Calibri"/>
              </a:rPr>
              <a:t>for LLM vulnerability detection</a:t>
            </a:r>
          </a:p>
          <a:p>
            <a:pPr marL="182880" indent="-182880">
              <a:lnSpc>
                <a:spcPct val="125000"/>
              </a:lnSpc>
              <a:spcAft>
                <a:spcPts val="1300"/>
              </a:spcAft>
              <a:buClr>
                <a:srgbClr val="C9A227"/>
              </a:buClr>
              <a:buFont typeface="Calibri"/>
              <a:buChar char="—"/>
            </a:pPr>
            <a:r>
              <a:rPr sz="1350" b="1">
                <a:solidFill>
                  <a:srgbClr val="FFFFFF"/>
                </a:solidFill>
                <a:latin typeface="Calibri"/>
              </a:rPr>
              <a:t>The first test of LLM detection on OWASP-LLM-Top-10 vulnerability classes, </a:t>
            </a:r>
            <a:r>
              <a:rPr sz="1350">
                <a:solidFill>
                  <a:srgbClr val="FFFFFF"/>
                </a:solidFill>
                <a:latin typeface="Calibri"/>
              </a:rPr>
              <a:t>extending scope from classical CWEs to LLM-integrated-software risks</a:t>
            </a:r>
          </a:p>
          <a:p>
            <a:pPr marL="182880" indent="-182880">
              <a:lnSpc>
                <a:spcPct val="125000"/>
              </a:lnSpc>
              <a:spcAft>
                <a:spcPts val="1300"/>
              </a:spcAft>
              <a:buClr>
                <a:srgbClr val="C9A227"/>
              </a:buClr>
              <a:buFont typeface="Calibri"/>
              <a:buChar char="—"/>
            </a:pPr>
            <a:r>
              <a:rPr sz="1350" b="1">
                <a:solidFill>
                  <a:srgbClr val="FFFFFF"/>
                </a:solidFill>
                <a:latin typeface="Calibri"/>
              </a:rPr>
              <a:t>A practitioner-facing cost–latency–accuracy decision tool </a:t>
            </a:r>
            <a:r>
              <a:rPr sz="1350">
                <a:solidFill>
                  <a:srgbClr val="FFFFFF"/>
                </a:solidFill>
                <a:latin typeface="Calibri"/>
              </a:rPr>
              <a:t>spanning every technique and model tested</a:t>
            </a:r>
          </a:p>
          <a:p>
            <a:pPr marL="182880" indent="-182880">
              <a:lnSpc>
                <a:spcPct val="125000"/>
              </a:lnSpc>
              <a:spcAft>
                <a:spcPts val="1300"/>
              </a:spcAft>
              <a:buClr>
                <a:srgbClr val="C9A227"/>
              </a:buClr>
              <a:buFont typeface="Calibri"/>
              <a:buChar char="—"/>
            </a:pPr>
            <a:r>
              <a:rPr sz="1350" b="1">
                <a:solidFill>
                  <a:srgbClr val="FFFFFF"/>
                </a:solidFill>
                <a:latin typeface="Calibri"/>
              </a:rPr>
              <a:t>The first end-to-end, automatically verified detect-to-repair pipeline </a:t>
            </a:r>
            <a:r>
              <a:rPr sz="1350">
                <a:solidFill>
                  <a:srgbClr val="FFFFFF"/>
                </a:solidFill>
                <a:latin typeface="Calibri"/>
              </a:rPr>
              <a:t>for this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9B3D6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9B3D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8425" y="109728"/>
            <a:ext cx="3840480" cy="3840480"/>
          </a:xfrm>
          <a:prstGeom prst="ellipse">
            <a:avLst/>
          </a:prstGeom>
          <a:solidFill>
            <a:srgbClr val="2E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3768" y="51705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WRAPPING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048" y="93809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 dirty="0">
                <a:solidFill>
                  <a:srgbClr val="FFFFFF"/>
                </a:solidFill>
                <a:latin typeface="Cambria"/>
              </a:rPr>
              <a:t>From Seven Fragmented Studies to One Complete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35124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1">
                <a:solidFill>
                  <a:srgbClr val="B9B3D6"/>
                </a:solidFill>
                <a:latin typeface="Calibri"/>
              </a:rPr>
              <a:t>Every weakness we identified traces to a specific design choice in this roadmap — nothing here is aspirational without a concrete method behind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9B3D6"/>
                </a:solidFill>
                <a:latin typeface="Calibri"/>
              </a:rPr>
              <a:t>Roadmap Synthesis — 7 Papers on LLMs for Vulnerability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9B3D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2972</Words>
  <Application>Microsoft Office PowerPoint</Application>
  <PresentationFormat>Widescreen</PresentationFormat>
  <Paragraphs>326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Alireza Shahidiani</cp:lastModifiedBy>
  <cp:revision>3</cp:revision>
  <dcterms:created xsi:type="dcterms:W3CDTF">2013-01-27T09:14:16Z</dcterms:created>
  <dcterms:modified xsi:type="dcterms:W3CDTF">2026-08-04T10:37:18Z</dcterms:modified>
  <cp:category/>
</cp:coreProperties>
</file>