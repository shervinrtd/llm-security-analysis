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3" autoAdjust="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 (%)</c:v>
                </c:pt>
              </c:strCache>
            </c:strRef>
          </c:tx>
          <c:spPr>
            <a:solidFill>
              <a:srgbClr val="5C6270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StarChat</c:v>
                </c:pt>
                <c:pt idx="1">
                  <c:v>GPT-3.5
turbo</c:v>
                </c:pt>
                <c:pt idx="2">
                  <c:v>Gemini
1.0 Pro</c:v>
                </c:pt>
                <c:pt idx="3">
                  <c:v>GPT-4
turbo</c:v>
                </c:pt>
                <c:pt idx="4">
                  <c:v>StarChat2</c:v>
                </c:pt>
                <c:pt idx="5">
                  <c:v>DeepSeek
(best)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50.9</c:v>
                </c:pt>
                <c:pt idx="1">
                  <c:v>50.9</c:v>
                </c:pt>
                <c:pt idx="2">
                  <c:v>52.1</c:v>
                </c:pt>
                <c:pt idx="3">
                  <c:v>51.8</c:v>
                </c:pt>
                <c:pt idx="4">
                  <c:v>52.9</c:v>
                </c:pt>
                <c:pt idx="5">
                  <c:v>54.5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620-48C2-A9D4-D0388ED7E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100">
                <a:solidFill>
                  <a:srgbClr val="1A1A1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1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pairs</c:v>
                </c:pt>
              </c:strCache>
            </c:strRef>
          </c:tx>
          <c:dPt>
            <c:idx val="0"/>
            <c:bubble3D val="0"/>
            <c:spPr>
              <a:solidFill>
                <a:srgbClr val="E63946"/>
              </a:solidFill>
            </c:spPr>
            <c:extLst>
              <c:ext xmlns:c16="http://schemas.microsoft.com/office/drawing/2014/chart" uri="{C3380CC4-5D6E-409C-BE32-E72D297353CC}">
                <c16:uniqueId val="{00000001-46E5-4D71-92CA-A17EC8BABC5F}"/>
              </c:ext>
            </c:extLst>
          </c:dPt>
          <c:dPt>
            <c:idx val="1"/>
            <c:bubble3D val="0"/>
            <c:spPr>
              <a:solidFill>
                <a:srgbClr val="4CAF8C"/>
              </a:solidFill>
            </c:spPr>
            <c:extLst>
              <c:ext xmlns:c16="http://schemas.microsoft.com/office/drawing/2014/chart" uri="{C3380CC4-5D6E-409C-BE32-E72D297353CC}">
                <c16:uniqueId val="{00000003-46E5-4D71-92CA-A17EC8BABC5F}"/>
              </c:ext>
            </c:extLst>
          </c:dPt>
          <c:dPt>
            <c:idx val="2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5-46E5-4D71-92CA-A17EC8BABC5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Can't Distinguish</c:v>
                </c:pt>
                <c:pt idx="1">
                  <c:v>Distinguished
(Both Correct)</c:v>
                </c:pt>
                <c:pt idx="2">
                  <c:v>Distinguished
(Both Wrong)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69.7</c:v>
                </c:pt>
                <c:pt idx="1">
                  <c:v>16.3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E5-4D71-92CA-A17EC8BABC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StarChat2 score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63946"/>
              </a:solidFill>
            </c:spPr>
            <c:extLst>
              <c:ext xmlns:c16="http://schemas.microsoft.com/office/drawing/2014/chart" uri="{C3380CC4-5D6E-409C-BE32-E72D297353CC}">
                <c16:uniqueId val="{00000001-85E0-40F9-9850-9D8E9E1DDE6C}"/>
              </c:ext>
            </c:extLst>
          </c:dPt>
          <c:dPt>
            <c:idx val="1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3-85E0-40F9-9850-9D8E9E1DDE6C}"/>
              </c:ext>
            </c:extLst>
          </c:dPt>
          <c:dPt>
            <c:idx val="2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5-85E0-40F9-9850-9D8E9E1DDE6C}"/>
              </c:ext>
            </c:extLst>
          </c:dPt>
          <c:dPt>
            <c:idx val="3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7-85E0-40F9-9850-9D8E9E1DDE6C}"/>
              </c:ext>
            </c:extLst>
          </c:dPt>
          <c:dPt>
            <c:idx val="4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9-85E0-40F9-9850-9D8E9E1DDE6C}"/>
              </c:ext>
            </c:extLst>
          </c:dPt>
          <c:cat>
            <c:strRef>
              <c:f>Sheet1!$A$2:$A$6</c:f>
              <c:strCache>
                <c:ptCount val="5"/>
                <c:pt idx="0">
                  <c:v>Vuln. Detection
(SVEN)</c:v>
                </c:pt>
                <c:pt idx="1">
                  <c:v>Code Generation
(HumanEval)</c:v>
                </c:pt>
                <c:pt idx="2">
                  <c:v>Code Execution
(CruxEval)</c:v>
                </c:pt>
                <c:pt idx="3">
                  <c:v>Math Reasoning
(GSM8k)</c:v>
                </c:pt>
                <c:pt idx="4">
                  <c:v>NL Reasoning
(CSQA)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</c:v>
                </c:pt>
                <c:pt idx="1">
                  <c:v>87.1</c:v>
                </c:pt>
                <c:pt idx="2">
                  <c:v>68.7</c:v>
                </c:pt>
                <c:pt idx="3">
                  <c:v>57.1</c:v>
                </c:pt>
                <c:pt idx="4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E0-40F9-9850-9D8E9E1DD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C6270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2B2E3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responses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CAF8C"/>
              </a:solidFill>
            </c:spPr>
            <c:extLst>
              <c:ext xmlns:c16="http://schemas.microsoft.com/office/drawing/2014/chart" uri="{C3380CC4-5D6E-409C-BE32-E72D297353CC}">
                <c16:uniqueId val="{00000001-0FED-4915-A71C-2D7707B73BC9}"/>
              </c:ext>
            </c:extLst>
          </c:dPt>
          <c:dPt>
            <c:idx val="1"/>
            <c:invertIfNegative val="1"/>
            <c:bubble3D val="0"/>
            <c:spPr>
              <a:solidFill>
                <a:srgbClr val="E63946"/>
              </a:solidFill>
            </c:spPr>
            <c:extLst>
              <c:ext xmlns:c16="http://schemas.microsoft.com/office/drawing/2014/chart" uri="{C3380CC4-5D6E-409C-BE32-E72D297353CC}">
                <c16:uniqueId val="{00000003-0FED-4915-A71C-2D7707B73BC9}"/>
              </c:ext>
            </c:extLst>
          </c:dPt>
          <c:dPt>
            <c:idx val="2"/>
            <c:invertIfNegative val="1"/>
            <c:bubble3D val="0"/>
            <c:spPr>
              <a:solidFill>
                <a:srgbClr val="F4A261"/>
              </a:solidFill>
            </c:spPr>
            <c:extLst>
              <c:ext xmlns:c16="http://schemas.microsoft.com/office/drawing/2014/chart" uri="{C3380CC4-5D6E-409C-BE32-E72D297353CC}">
                <c16:uniqueId val="{00000005-0FED-4915-A71C-2D7707B73BC9}"/>
              </c:ext>
            </c:extLst>
          </c:dPt>
          <c:dPt>
            <c:idx val="3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7-0FED-4915-A71C-2D7707B73BC9}"/>
              </c:ext>
            </c:extLst>
          </c:dPt>
          <c:cat>
            <c:strRef>
              <c:f>Sheet1!$A$2:$A$5</c:f>
              <c:strCache>
                <c:ptCount val="4"/>
                <c:pt idx="0">
                  <c:v>No Error
Detected</c:v>
                </c:pt>
                <c:pt idx="1">
                  <c:v>Steps 1–2
(Localize/Understand)</c:v>
                </c:pt>
                <c:pt idx="2">
                  <c:v>Cross-Cutting
(Hallucination, etc.)</c:v>
                </c:pt>
                <c:pt idx="3">
                  <c:v>Step 3
(Logical Reasoning)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43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ED-4915-A71C-2D7707B73B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100">
                <a:solidFill>
                  <a:srgbClr val="1A1A1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1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63946"/>
              </a:solidFill>
            </c:spPr>
            <c:extLst>
              <c:ext xmlns:c16="http://schemas.microsoft.com/office/drawing/2014/chart" uri="{C3380CC4-5D6E-409C-BE32-E72D297353CC}">
                <c16:uniqueId val="{00000001-853E-45FB-9BE4-F3244E720A69}"/>
              </c:ext>
            </c:extLst>
          </c:dPt>
          <c:dPt>
            <c:idx val="1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3-853E-45FB-9BE4-F3244E720A69}"/>
              </c:ext>
            </c:extLst>
          </c:dPt>
          <c:dPt>
            <c:idx val="2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5-853E-45FB-9BE4-F3244E720A69}"/>
              </c:ext>
            </c:extLst>
          </c:dPt>
          <c:dPt>
            <c:idx val="3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7-853E-45FB-9BE4-F3244E720A69}"/>
              </c:ext>
            </c:extLst>
          </c:dPt>
          <c:dPt>
            <c:idx val="4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9-853E-45FB-9BE4-F3244E720A69}"/>
              </c:ext>
            </c:extLst>
          </c:dPt>
          <c:dPt>
            <c:idx val="5"/>
            <c:invertIfNegative val="1"/>
            <c:bubble3D val="0"/>
            <c:spPr>
              <a:solidFill>
                <a:srgbClr val="5C6270"/>
              </a:solidFill>
            </c:spPr>
            <c:extLst>
              <c:ext xmlns:c16="http://schemas.microsoft.com/office/drawing/2014/chart" uri="{C3380CC4-5D6E-409C-BE32-E72D297353CC}">
                <c16:uniqueId val="{0000000B-853E-45FB-9BE4-F3244E720A69}"/>
              </c:ext>
            </c:extLst>
          </c:dPt>
          <c:cat>
            <c:strRef>
              <c:f>Sheet1!$A$2:$A$7</c:f>
              <c:strCache>
                <c:ptCount val="6"/>
                <c:pt idx="0">
                  <c:v>Bounds/NULL
Check</c:v>
                </c:pt>
                <c:pt idx="1">
                  <c:v>String
Operation</c:v>
                </c:pt>
                <c:pt idx="2">
                  <c:v>Arithmetic
Operation</c:v>
                </c:pt>
                <c:pt idx="3">
                  <c:v>Pointer
Operation</c:v>
                </c:pt>
                <c:pt idx="4">
                  <c:v>Alloc/Free
Operation</c:v>
                </c:pt>
                <c:pt idx="5">
                  <c:v>Index
Operation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53E-45FB-9BE4-F3244E720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100">
                <a:solidFill>
                  <a:srgbClr val="1A1A1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1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61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91440"/>
            <a:ext cx="4114800" cy="4114800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789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To Err Is Machine: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Vulnerability Detection Challenges LLM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F4A261"/>
                </a:solidFill>
                <a:latin typeface="Calibri"/>
              </a:rPr>
              <a:t>A Reality Check on LLMs and Security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A9ADB8"/>
                </a:solidFill>
                <a:latin typeface="Calibri"/>
              </a:rPr>
              <a:t>Steenhoek, Rahman, Roy, Alam, Tong, Das, Barr &amp; Le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A9ADB8"/>
                </a:solidFill>
                <a:latin typeface="Calibri"/>
              </a:rPr>
              <a:t>Iowa State University / University College London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A9ADB8"/>
                </a:solidFill>
                <a:latin typeface="Calibri"/>
              </a:rPr>
              <a:t>Presented as a guided walkthrough of the paper's concepts, methods, and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What We'll Cover</a:t>
            </a:r>
          </a:p>
        </p:txBody>
      </p:sp>
      <p:sp>
        <p:nvSpPr>
          <p:cNvPr id="5" name="Oval 4"/>
          <p:cNvSpPr/>
          <p:nvPr/>
        </p:nvSpPr>
        <p:spPr>
          <a:xfrm>
            <a:off x="557784" y="1691640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0992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The Reality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3736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Headline results: near-random performance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272284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7784" y="2299716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80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The Reasoning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45436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Why vulnerability detection isn't pattern matching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2880360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7784" y="2907792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5351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14 models, the SVEN dataset, 7 prompting strategies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488436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7784" y="3515868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341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561588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How badly — and how consistently — models fail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4096511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7784" y="4123944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42231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Why They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69663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Manual error analysis across 300 responses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4704588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57784" y="4732020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7503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Does Anything Help?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77774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Scaling, fine-tuning, and domain knowledge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34440" y="5312664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57784" y="5340096"/>
            <a:ext cx="493776" cy="493776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58383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E35"/>
                </a:solidFill>
                <a:latin typeface="Calibri"/>
              </a:rPr>
              <a:t>What It Means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385816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66B76"/>
                </a:solidFill>
                <a:latin typeface="Calibri"/>
              </a:rPr>
              <a:t>Implications for the field and the path forward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A261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A Reality Check on LLMs and Vulnerability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54298" cy="25146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0885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63946"/>
                </a:solidFill>
                <a:latin typeface="Cambria"/>
              </a:rPr>
              <a:t>50–55%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Balanced Accuracy across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14 models × 7 prompts — 50% = a coin flip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920240"/>
            <a:ext cx="3454298" cy="25146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2194560"/>
            <a:ext cx="30885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63946"/>
                </a:solidFill>
                <a:latin typeface="Cambria"/>
              </a:rPr>
              <a:t>67.4%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20040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of the time, GPT-4 gave the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SAME verdict to buggy AND fixed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920240"/>
            <a:ext cx="3454298" cy="25146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1636" y="2194560"/>
            <a:ext cx="30885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63946"/>
                </a:solidFill>
                <a:latin typeface="Cambria"/>
              </a:rPr>
              <a:t>69.7%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356" y="320040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of vulnerable/fixed pairs could not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be told apart by the average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4A261"/>
                </a:solidFill>
                <a:latin typeface="Calibri"/>
              </a:rPr>
              <a:t>Unlike more optimistic earlier studies, this paper rigorously shows that today's best LLMs — including GPT-4 — are not yet reliable vulnerability detectors, and asks a deeper question: why?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Vulnerability Detection Is a Reasoning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E"/>
                </a:solidFill>
                <a:latin typeface="Calibri"/>
              </a:rPr>
              <a:t>Spotting a vulnerability isn't “does this look risky” — it requires three distinct reasoning steps, each of which can fail independently.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484778" cy="278892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07565" y="2734056"/>
            <a:ext cx="566928" cy="566928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74720"/>
            <a:ext cx="31555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Localize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86200"/>
            <a:ext cx="308244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Find the specific lines relevant to a potential vulnerability — e.g., where a buffer is allocated and later accessed.</a:t>
            </a:r>
          </a:p>
        </p:txBody>
      </p:sp>
      <p:sp>
        <p:nvSpPr>
          <p:cNvPr id="10" name="Chevron 9"/>
          <p:cNvSpPr/>
          <p:nvPr/>
        </p:nvSpPr>
        <p:spPr>
          <a:xfrm>
            <a:off x="4060850" y="3749039"/>
            <a:ext cx="292608" cy="411480"/>
          </a:xfrm>
          <a:prstGeom prst="chevron">
            <a:avLst/>
          </a:prstGeom>
          <a:solidFill>
            <a:srgbClr val="66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3458" y="2514600"/>
            <a:ext cx="3484778" cy="278892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12383" y="2734056"/>
            <a:ext cx="566928" cy="566928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50" y="3474720"/>
            <a:ext cx="31555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Understand Semantics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4626" y="3886200"/>
            <a:ext cx="308244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Correctly interpret what those statements do — recognizing a bounds check, a NULL check, or a pointer/string operation's effect.</a:t>
            </a:r>
          </a:p>
        </p:txBody>
      </p:sp>
      <p:sp>
        <p:nvSpPr>
          <p:cNvPr id="15" name="Chevron 14"/>
          <p:cNvSpPr/>
          <p:nvPr/>
        </p:nvSpPr>
        <p:spPr>
          <a:xfrm>
            <a:off x="7865668" y="3749039"/>
            <a:ext cx="292608" cy="411480"/>
          </a:xfrm>
          <a:prstGeom prst="chevron">
            <a:avLst/>
          </a:prstGeom>
          <a:solidFill>
            <a:srgbClr val="66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58276" y="2514600"/>
            <a:ext cx="3484778" cy="278892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17202" y="2734056"/>
            <a:ext cx="566928" cy="566928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8" y="3474720"/>
            <a:ext cx="31555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Logical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444" y="3886200"/>
            <a:ext cx="308244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Connect the facts — track variable values and execution order, then compare against the (often unstated) security policy.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666B76"/>
                </a:solidFill>
                <a:latin typeface="Calibri"/>
              </a:rPr>
              <a:t>Sometimes only a single character or operator separates a vulnerable version of a function from its safely patched one — so vague, surface-level pattern matching simply doesn't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Buffer Overflow — The Three Steps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835640" cy="41148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66B76"/>
                </a:solidFill>
                <a:latin typeface="Calibri"/>
              </a:rPr>
              <a:t>A function reads a line of text, then strips the trailing newline: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B2E35"/>
                </a:solidFill>
                <a:latin typeface="Courier New"/>
              </a:rPr>
              <a:t>ptr[strlen(ptr) - 1] = '\0';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1 — Localize: </a:t>
            </a:r>
            <a:r>
              <a:rPr sz="1300">
                <a:solidFill>
                  <a:srgbClr val="1A1A1E"/>
                </a:solidFill>
                <a:latin typeface="Calibri"/>
              </a:rPr>
              <a:t>the buffer allocation, and this risky access at the end of the string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2 — Understand: </a:t>
            </a:r>
            <a:r>
              <a:rPr sz="1300">
                <a:solidFill>
                  <a:srgbClr val="1A1A1E"/>
                </a:solidFill>
                <a:latin typeface="Calibri"/>
              </a:rPr>
              <a:t>strlen(ptr) returns 0 if fgets() read an empty line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3 — Connect the facts: </a:t>
            </a:r>
            <a:r>
              <a:rPr sz="1300">
                <a:solidFill>
                  <a:srgbClr val="1A1A1E"/>
                </a:solidFill>
                <a:latin typeface="Calibri"/>
              </a:rPr>
              <a:t>if the string is empty, strlen(ptr)-1 becomes -1 — an out-of-bounds index, causing a Buffer Overflow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The fix: </a:t>
            </a:r>
            <a:r>
              <a:rPr sz="1300">
                <a:solidFill>
                  <a:srgbClr val="1A1A1E"/>
                </a:solidFill>
                <a:latin typeface="Calibri"/>
              </a:rPr>
              <a:t>adds “if (len &gt; 0)” before the subtraction. A model that misses this check in Step 2 will wrongly call the already-safe patched code “vulnerable”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Null-Pointer Dereference — The Three Steps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835640" cy="41148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66B76"/>
                </a:solidFill>
                <a:latin typeface="Calibri"/>
              </a:rPr>
              <a:t>A loop walks up a chain of objects, then dereferences the result: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B2E35"/>
                </a:solidFill>
                <a:latin typeface="Courier New"/>
              </a:rPr>
              <a:t>cl = cl-&gt;super;  ...  while (cl-&gt;tt ==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1 — Localize: </a:t>
            </a:r>
            <a:r>
              <a:rPr sz="1300">
                <a:solidFill>
                  <a:srgbClr val="1A1A1E"/>
                </a:solidFill>
                <a:latin typeface="Calibri"/>
              </a:rPr>
              <a:t>the assignment cl-&gt;super = NULL, and the later dereference of cl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2 — Understand: </a:t>
            </a:r>
            <a:r>
              <a:rPr sz="1300">
                <a:solidFill>
                  <a:srgbClr val="1A1A1E"/>
                </a:solidFill>
                <a:latin typeface="Calibri"/>
              </a:rPr>
              <a:t>this assignment can make cl-&gt;super equal to NULL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Step 3 — Connect the facts: </a:t>
            </a:r>
            <a:r>
              <a:rPr sz="1300">
                <a:solidFill>
                  <a:srgbClr val="1A1A1E"/>
                </a:solidFill>
                <a:latin typeface="Calibri"/>
              </a:rPr>
              <a:t>after cl becomes NULL, the next loop condition dereferences it — crashing the program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2B2E35"/>
              </a:buClr>
              <a:buFont typeface="Calibri"/>
              <a:buChar char="—"/>
            </a:pPr>
            <a:r>
              <a:rPr sz="1300" b="1">
                <a:solidFill>
                  <a:srgbClr val="1A1A1E"/>
                </a:solidFill>
                <a:latin typeface="Calibri"/>
              </a:rPr>
              <a:t>The fix: </a:t>
            </a:r>
            <a:r>
              <a:rPr sz="1300">
                <a:solidFill>
                  <a:srgbClr val="1A1A1E"/>
                </a:solidFill>
                <a:latin typeface="Calibri"/>
              </a:rPr>
              <a:t>adds “if (cl == 0) return NULL;” right after the reassignment. A model must correctly recognize this check to know the patched version is now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14 State-of-the-Art LLMs, Deliberately Varied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General-Purpose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GPT-4, GPT-3.5, Gemini 1.0 Pro — commercial models trained on broad data including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0187" y="1920240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Code-Specialized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7" y="233172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Code LLaMA, StarCoder(2), DeepSeek-Coder, Mistral, Mixtral, WizardCoder, MagiCoder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794759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Base vs. Instruction-Tuned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0624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Matched pairs isolate the effect of instruction tuning alone (e.g., StarCoder2 vs. StarChat2)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0187" y="3794759"/>
            <a:ext cx="48385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2B2E35"/>
                </a:solidFill>
                <a:latin typeface="Calibri"/>
              </a:rPr>
              <a:t>Multiple Sizes per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4206240"/>
            <a:ext cx="48385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LLaMA 2 (7B/13B), Code LLaMA (7B/13B/34B), DeepSeek-Coder (1.3B/6.7B/33B)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666B76"/>
                </a:solidFill>
                <a:latin typeface="Calibri"/>
              </a:rPr>
              <a:t>All 14 were state-of-the-art in code generation at the time — this is not a story about weak models.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The Dataset: SVEN — Real-World, Not Synthetic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B2E35"/>
                </a:solidFill>
                <a:latin typeface="Calibri"/>
              </a:rPr>
              <a:t>Real-world C/C++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>
                <a:solidFill>
                  <a:srgbClr val="1A1A1E"/>
                </a:solidFill>
                <a:latin typeface="Calibri"/>
              </a:rPr>
              <a:t>386 vulnerable functions + their fixed versions</a:t>
            </a:r>
          </a:p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>
                <a:solidFill>
                  <a:srgbClr val="1A1A1E"/>
                </a:solidFill>
                <a:latin typeface="Calibri"/>
              </a:rPr>
              <a:t>772 programs total; ~168 lines per function on average</a:t>
            </a:r>
          </a:p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Unlike the synthetic Juliet dataset </a:t>
            </a:r>
            <a:r>
              <a:rPr sz="1250">
                <a:solidFill>
                  <a:srgbClr val="1A1A1E"/>
                </a:solidFill>
                <a:latin typeface="Calibri"/>
              </a:rPr>
              <a:t>used in companion studies, SVEN is pulled from genuine open-source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B2E35"/>
                </a:solidFill>
                <a:latin typeface="Calibri"/>
              </a:rPr>
              <a:t>Why SVEN over other options?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Label noise is a real problem: </a:t>
            </a:r>
            <a:r>
              <a:rPr sz="1250">
                <a:solidFill>
                  <a:srgbClr val="1A1A1E"/>
                </a:solidFill>
                <a:latin typeface="Calibri"/>
              </a:rPr>
              <a:t>auto-collected vulnerability datasets often mislabel examples</a:t>
            </a:r>
          </a:p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SVEN is manually vetted: </a:t>
            </a:r>
            <a:r>
              <a:rPr sz="1250">
                <a:solidFill>
                  <a:srgbClr val="1A1A1E"/>
                </a:solidFill>
                <a:latin typeface="Calibri"/>
              </a:rPr>
              <a:t>aggregated and hand-checked across multiple existing benchmarks</a:t>
            </a:r>
          </a:p>
          <a:p>
            <a:pPr marL="228600" indent="-228600">
              <a:lnSpc>
                <a:spcPct val="125000"/>
              </a:lnSpc>
              <a:spcAft>
                <a:spcPts val="9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94% reported label accuracy — </a:t>
            </a:r>
            <a:r>
              <a:rPr sz="1250">
                <a:solidFill>
                  <a:srgbClr val="1A1A1E"/>
                </a:solidFill>
                <a:latin typeface="Calibri"/>
              </a:rPr>
              <a:t>trustworthy ground truth is essential before trusting any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Why Balanced Accuracy Instead of F1?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E"/>
                </a:solidFill>
                <a:latin typeface="Calibri"/>
              </a:rPr>
              <a:t>F1 can be “gamed” by a model that's simply biased toward predicting “vulnerable” more often. Balanced Accuracy resists that trick.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0835640" cy="100584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Balanced Accuracy = (Accuracy on vulnerable examples + Accuracy on safe examples)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Why this resists a lazy strategy: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0835640" cy="155448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1A1A1E"/>
                </a:solidFill>
                <a:latin typeface="Calibri"/>
              </a:rPr>
              <a:t>A model that always answers “vulnerable” gets 100% accuracy on the vulnerable half, but 0% on the safe half. Balanced Accuracy = (100% + 0%) / 2 = 50% — correctly exposed as no better than a coin flip.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946"/>
                </a:solidFill>
                <a:latin typeface="Calibri"/>
              </a:rPr>
              <a:t>The random-guessing baseline throughout this paper is exactly 50%.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Seven Prompting Strategies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Basic (zero-shot)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1A1A1E"/>
                </a:solidFill>
                <a:latin typeface="Calibri"/>
              </a:rPr>
              <a:t>A direct “Is this function buggy?” question, no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1098" y="192024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In-context (n-shot)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514600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1A1A1E"/>
                </a:solidFill>
                <a:latin typeface="Calibri"/>
              </a:rPr>
              <a:t>Standard few-shot: show example Q&amp;A pairs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0676" y="192024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Contrastive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514600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1A1A1E"/>
                </a:solidFill>
                <a:latin typeface="Calibri"/>
              </a:rPr>
              <a:t>Show a DIFFERENT function's buggy + fixed version as the 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CoT-CVE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59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1A1A1E"/>
                </a:solidFill>
                <a:latin typeface="Calibri"/>
              </a:rPr>
              <a:t>Use real CVE bug-report text as the worked reasoning example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8218" y="37033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1098" y="388620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CoT-StaticAnalysis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4480559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1A1A1E"/>
                </a:solidFill>
                <a:latin typeface="Calibri"/>
              </a:rPr>
              <a:t>Use an existing static analyzer's own bug-path as the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37033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0676" y="3886200"/>
            <a:ext cx="314949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B2E35"/>
                </a:solidFill>
                <a:latin typeface="Calibri"/>
              </a:rPr>
              <a:t>CoT-Annotations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0676" y="4480559"/>
            <a:ext cx="314949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 dirty="0">
                <a:solidFill>
                  <a:srgbClr val="1A1A1E"/>
                </a:solidFill>
                <a:latin typeface="Calibri"/>
              </a:rPr>
              <a:t>The authors' proposed fix — pre-annotate the actual code with NULL/bounds 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Every Model, Every Prompt — Barely Above Chance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10698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1">
                <a:solidFill>
                  <a:srgbClr val="E63946"/>
                </a:solidFill>
                <a:latin typeface="Calibri"/>
              </a:rPr>
              <a:t>Random guessing = 50%. Not one model/prompt combination cleared 55% — including GPT-4, the strongest model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The “Can't Distinguish”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A1E"/>
                </a:solidFill>
                <a:latin typeface="Calibri"/>
              </a:rPr>
              <a:t>For every vulnerable/fixed pair, does the model actually give them different verdicts?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16002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743200"/>
            <a:ext cx="51206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12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69.7% — Can't Distinguish: </a:t>
            </a:r>
            <a:r>
              <a:rPr sz="1250">
                <a:solidFill>
                  <a:srgbClr val="1A1A1E"/>
                </a:solidFill>
                <a:latin typeface="Calibri"/>
              </a:rPr>
              <a:t>the model gives the same verdict to both versions</a:t>
            </a:r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16.3% — Both Correct: </a:t>
            </a:r>
            <a:r>
              <a:rPr sz="1250">
                <a:solidFill>
                  <a:srgbClr val="1A1A1E"/>
                </a:solidFill>
                <a:latin typeface="Calibri"/>
              </a:rPr>
              <a:t>genuine, working detection</a:t>
            </a:r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Clr>
                <a:srgbClr val="2B2E35"/>
              </a:buClr>
              <a:buFont typeface="Calibri"/>
              <a:buChar char="—"/>
            </a:pPr>
            <a:r>
              <a:rPr sz="1250" b="1">
                <a:solidFill>
                  <a:srgbClr val="1A1A1E"/>
                </a:solidFill>
                <a:latin typeface="Calibri"/>
              </a:rPr>
              <a:t>14.0% — Both Wrong: </a:t>
            </a:r>
            <a:r>
              <a:rPr sz="1250">
                <a:solidFill>
                  <a:srgbClr val="1A1A1E"/>
                </a:solidFill>
                <a:latin typeface="Calibri"/>
              </a:rPr>
              <a:t>different answers, but backwards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A26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Good at Everything Else — Bad at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A9ADB8"/>
                </a:solidFill>
                <a:latin typeface="Calibri"/>
              </a:rPr>
              <a:t>Same model (StarChat2), four very different tasks: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40280"/>
          <a:ext cx="10698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WHY DO THEY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A Rigorous Manual Error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5678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B2E35"/>
                </a:solidFill>
                <a:latin typeface="Cambria"/>
              </a:rP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9354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LLM responses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manually inspected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201168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0823" y="2286000"/>
            <a:ext cx="25678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B2E35"/>
                </a:solidFill>
                <a:latin typeface="Cambria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3" y="3063240"/>
            <a:ext cx="229354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different programs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01168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3007" y="2286000"/>
            <a:ext cx="25678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B2E35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63240"/>
            <a:ext cx="229354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independent raters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per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5191" y="2011680"/>
            <a:ext cx="2567863" cy="192024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5191" y="2286000"/>
            <a:ext cx="25678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B2E35"/>
                </a:solidFill>
                <a:latin typeface="Cambria"/>
              </a:rPr>
              <a:t>0.78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2351" y="3063240"/>
            <a:ext cx="229354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Fleiss' kappa —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1E"/>
                </a:solidFill>
                <a:latin typeface="Calibri"/>
              </a:rPr>
              <a:t>strong agreement (86%)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A1A1E"/>
                </a:solidFill>
                <a:latin typeface="Calibri"/>
              </a:rPr>
              <a:t>To go beyond a pass/fail score, three authors independently read and categorized responses where the model claimed a vulnerability existed — cataloguing exactly which reasoning step broke down, and how. Disagreements were resolved by majority vote and discussion, following established qualitative-research practices.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WHY DO THEY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Where Do Reasoning Errors Happen?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37360"/>
          <a:ext cx="1069848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1">
                <a:solidFill>
                  <a:srgbClr val="666B76"/>
                </a:solidFill>
                <a:latin typeface="Calibri"/>
              </a:rPr>
              <a:t>44% of responses had no detectable error — but that still leaves more than half with at least one. Errors cluster heavily in Steps 1–2: simply localizing and correctly reading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WHY DO THEY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The #1 Culprit: Misunderstood Bounds/NULL Checks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10698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666B76"/>
                </a:solidFill>
                <a:latin typeface="Calibri"/>
              </a:rPr>
              <a:t>Out of 159 responses discussing a bounds/NULL check, 80 (50%) got it wrong — despite these checks following simple, predictable patterns that humans (and even static analyzers) find easy to spot.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REAL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Two Failures, Straight From the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39" y="187452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65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B2E35"/>
                </a:solidFill>
                <a:latin typeface="Calibri"/>
              </a:rPr>
              <a:t>StarChat: Missed NULL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E"/>
                </a:solidFill>
                <a:latin typeface="Calibri"/>
              </a:rPr>
              <a:t>The code safely handles a potentially-NULL pointer earlier in the function. StarChat still reported an “unchecked null-pointer dereference” later on — completely overlooking the safety check that was already there. It read only part of the relevant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B2E35"/>
                </a:solidFill>
                <a:latin typeface="Calibri"/>
              </a:rPr>
              <a:t>GPT-4: Botched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E"/>
                </a:solidFill>
                <a:latin typeface="Calibri"/>
              </a:rPr>
              <a:t>GPT-4 correctly spotted a bounds-check added to prevent overflow. But it then failed to actually work out the arithmetic: given the real upper bounds involved, an overflow was mathematically impossible. GPT-4 flagged it as vulnerable anyway — right about the check, wrong about the math.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666B76"/>
                </a:solidFill>
                <a:latin typeface="Calibri"/>
              </a:rPr>
              <a:t>Both show partial success (finding relevant code) undermined by a failure elsewhere in the reasoning 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A261"/>
                </a:solidFill>
                <a:latin typeface="Calibri"/>
              </a:rPr>
              <a:t>DOES ANYTHING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The Usual Fixes Didn't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4380" y="2240279"/>
            <a:ext cx="594360" cy="5943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41984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Bigger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59152"/>
            <a:ext cx="41984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ADB8"/>
                </a:solidFill>
                <a:latin typeface="Calibri"/>
              </a:rPr>
              <a:t>No statistical correlation between size and performance (R² = 0.02)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61607" y="2240279"/>
            <a:ext cx="594360" cy="5943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707" y="1965960"/>
            <a:ext cx="41984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More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707" y="2359152"/>
            <a:ext cx="41984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ADB8"/>
                </a:solidFill>
                <a:latin typeface="Calibri"/>
              </a:rPr>
              <a:t>2× more code (StarCoder → StarCoder2) bought only +4%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4380" y="4114799"/>
            <a:ext cx="594360" cy="5943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79"/>
            <a:ext cx="41984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Instruction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33672"/>
            <a:ext cx="41984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ADB8"/>
                </a:solidFill>
                <a:latin typeface="Calibri"/>
              </a:rPr>
              <a:t>Base vs. instruction-tuned pairs: no substantial difference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61607" y="4114799"/>
            <a:ext cx="594360" cy="5943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1707" y="3840479"/>
            <a:ext cx="41984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Direct Fine-Tuning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707" y="4233672"/>
            <a:ext cx="41984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ADB8"/>
                </a:solidFill>
                <a:latin typeface="Calibri"/>
              </a:rPr>
              <a:t>Fine-tuned on a dedicated vuln. dataset: worse on balanced data, +1.2% on imbalanced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DOES ANYTHING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B2E35"/>
                </a:solidFill>
                <a:latin typeface="Cambria"/>
              </a:rPr>
              <a:t>CoT-Annotations: A Partial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1E"/>
                </a:solidFill>
                <a:latin typeface="Calibri"/>
              </a:rPr>
              <a:t>Since bounds/NULL checks were the #1 error source, the authors pre-annotated code with the exact relevant facts — doing Step 1 (and part of Step 2) for the model in advance.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835640" cy="1371600"/>
          </a:xfrm>
          <a:prstGeom prst="roundRect">
            <a:avLst>
              <a:gd name="adj" fmla="val 8000"/>
            </a:avLst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A1E"/>
                </a:solidFill>
                <a:latin typeface="Calibri"/>
              </a:rPr>
              <a:t>Result: bounds/NULL-check recognition errors dropped 15–70% for several models (Code LLaMA, MagiCoder, Mistral) — a genuine, measurable improvement in that one specific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10835640" cy="1371600"/>
          </a:xfrm>
          <a:prstGeom prst="roundRect">
            <a:avLst>
              <a:gd name="adj" fmla="val 8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A1E"/>
                </a:solidFill>
                <a:latin typeface="Calibri"/>
              </a:rPr>
              <a:t>But: those models still missed 23–67% of checks, and this improvement did NOT translate into better overall vulnerability-detection performance — fixing one weak link isn't enough when other links (like Step 3's logical reasoning) are still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66B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A261"/>
                </a:solidFill>
                <a:latin typeface="Calibri"/>
              </a:rPr>
              <a:t>WHAT IT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A Structural Problem, Not a Scale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6984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Clr>
                <a:srgbClr val="F4A261"/>
              </a:buClr>
              <a:buFont typeface="Calibri"/>
              <a:buChar char="—"/>
            </a:pPr>
            <a:r>
              <a:rPr sz="1450" b="1">
                <a:solidFill>
                  <a:srgbClr val="FFFFFF"/>
                </a:solidFill>
                <a:latin typeface="Calibri"/>
              </a:rPr>
              <a:t>The likely culprit: </a:t>
            </a:r>
            <a:r>
              <a:rPr sz="1450">
                <a:solidFill>
                  <a:srgbClr val="FFFFFF"/>
                </a:solidFill>
                <a:latin typeface="Calibri"/>
              </a:rPr>
              <a:t>autoregressive pre-training (predicting the next word/token from text) may not effectively teach models true code execution semantics — what a program actually does as it runs — especially since real execution-trace data is scarce in typical training data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Clr>
                <a:srgbClr val="F4A261"/>
              </a:buClr>
              <a:buFont typeface="Calibri"/>
              <a:buChar char="—"/>
            </a:pPr>
            <a:r>
              <a:rPr sz="1450" b="1">
                <a:solidFill>
                  <a:srgbClr val="FFFFFF"/>
                </a:solidFill>
                <a:latin typeface="Calibri"/>
              </a:rPr>
              <a:t>A possible way forward: </a:t>
            </a:r>
            <a:r>
              <a:rPr sz="1450">
                <a:solidFill>
                  <a:srgbClr val="FFFFFF"/>
                </a:solidFill>
                <a:latin typeface="Calibri"/>
              </a:rPr>
              <a:t>newer reasoning-focused models (e.g., OpenAI's o1, DeepSeek's R1), explicitly trained to work through extended multi-step reasoning rather than just predict fluent text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Clr>
                <a:srgbClr val="F4A261"/>
              </a:buClr>
              <a:buFont typeface="Calibri"/>
              <a:buChar char="—"/>
            </a:pPr>
            <a:r>
              <a:rPr sz="1450" b="1">
                <a:solidFill>
                  <a:srgbClr val="FFFFFF"/>
                </a:solidFill>
                <a:latin typeface="Calibri"/>
              </a:rPr>
              <a:t>Why it matters beyond bug-finding: </a:t>
            </a:r>
            <a:r>
              <a:rPr sz="1450">
                <a:solidFill>
                  <a:srgbClr val="FFFFFF"/>
                </a:solidFill>
                <a:latin typeface="Calibri"/>
              </a:rPr>
              <a:t>vulnerability detection is an ideal benchmark for code reasoning generally — progress here would likely also help debugging, test generation, and automated program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A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47304" y="137160"/>
            <a:ext cx="3840480" cy="3840480"/>
          </a:xfrm>
          <a:prstGeom prst="ellipse">
            <a:avLst/>
          </a:prstGeom>
          <a:solidFill>
            <a:srgbClr val="2B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9012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 dirty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4066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Even top LLMs (GPT-4 included) perform barely better than random guessing at real-world vulnerability detection — a specific blind spot, not general weakness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The failures are traceable to concrete reasoning errors — especially misunderstanding bounds/NULL checks — not vague 'the model is bad at code'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None of the usual fixes (bigger models, more data, fine-tuning, domain knowledge) meaningfully closed the gap — suggesting a deeper, structural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84673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Steenhoek et al., "To Err Is Machine: Vulnerability Detection Challenges LLM Reasoning"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9AD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2279</Words>
  <Application>Microsoft Office PowerPoint</Application>
  <PresentationFormat>Widescreen</PresentationFormat>
  <Paragraphs>223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Alireza Shahidiani</cp:lastModifiedBy>
  <cp:revision>5</cp:revision>
  <dcterms:created xsi:type="dcterms:W3CDTF">2013-01-27T09:14:16Z</dcterms:created>
  <dcterms:modified xsi:type="dcterms:W3CDTF">2026-08-04T10:51:11Z</dcterms:modified>
  <cp:category/>
</cp:coreProperties>
</file>