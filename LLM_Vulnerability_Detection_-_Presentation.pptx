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CADCFC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CodeQL
(default)</c:v>
                </c:pt>
                <c:pt idx="1">
                  <c:v>CodeQL
(sec+qual)</c:v>
                </c:pt>
                <c:pt idx="2">
                  <c:v>SpotBugs
(default)</c:v>
                </c:pt>
                <c:pt idx="3">
                  <c:v>SpotBugs
+FSB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0.93799999999999994</c:v>
                </c:pt>
                <c:pt idx="1">
                  <c:v>0.85599999999999998</c:v>
                </c:pt>
                <c:pt idx="2">
                  <c:v>0.66100000000000003</c:v>
                </c:pt>
                <c:pt idx="3">
                  <c:v>0.86899999999999999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CB5-4E16-9E2F-E8383EF6FF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E2761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CodeQL
(default)</c:v>
                </c:pt>
                <c:pt idx="1">
                  <c:v>CodeQL
(sec+qual)</c:v>
                </c:pt>
                <c:pt idx="2">
                  <c:v>SpotBugs
(default)</c:v>
                </c:pt>
                <c:pt idx="3">
                  <c:v>SpotBugs
+FSB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0.26300000000000001</c:v>
                </c:pt>
                <c:pt idx="1">
                  <c:v>0.47399999999999998</c:v>
                </c:pt>
                <c:pt idx="2">
                  <c:v>0.13500000000000001</c:v>
                </c:pt>
                <c:pt idx="3">
                  <c:v>0.52600000000000002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CB5-4E16-9E2F-E8383EF6FF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E63946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CodeQL
(default)</c:v>
                </c:pt>
                <c:pt idx="1">
                  <c:v>CodeQL
(sec+qual)</c:v>
                </c:pt>
                <c:pt idx="2">
                  <c:v>SpotBugs
(default)</c:v>
                </c:pt>
                <c:pt idx="3">
                  <c:v>SpotBugs
+FSB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0.41099999999999998</c:v>
                </c:pt>
                <c:pt idx="1">
                  <c:v>0.61</c:v>
                </c:pt>
                <c:pt idx="2">
                  <c:v>0.224</c:v>
                </c:pt>
                <c:pt idx="3">
                  <c:v>0.65500000000000003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BCB5-4E16-9E2F-E8383EF6FF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8E3"/>
            </a:solidFill>
          </a:ln>
        </c:spPr>
        <c:txPr>
          <a:bodyPr/>
          <a:lstStyle/>
          <a:p>
            <a:pPr>
              <a:defRPr sz="1100">
                <a:solidFill>
                  <a:srgbClr val="1A1A2E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AECF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1A1A2E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CADCFC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GPT-4 turbo
(Dataflow+RCI)</c:v>
                </c:pt>
                <c:pt idx="1">
                  <c:v>GPT-4
(CoT 8-step)</c:v>
                </c:pt>
                <c:pt idx="2">
                  <c:v>Claude 3 Opus
(CoT 8-step)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0.75</c:v>
                </c:pt>
                <c:pt idx="1">
                  <c:v>0.76</c:v>
                </c:pt>
                <c:pt idx="2">
                  <c:v>0.88400000000000001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1D1-43FC-9891-C00A2A1E8A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E2761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GPT-4 turbo
(Dataflow+RCI)</c:v>
                </c:pt>
                <c:pt idx="1">
                  <c:v>GPT-4
(CoT 8-step)</c:v>
                </c:pt>
                <c:pt idx="2">
                  <c:v>Claude 3 Opus
(CoT 8-step)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0.59199999999999997</c:v>
                </c:pt>
                <c:pt idx="1">
                  <c:v>0.60199999999999998</c:v>
                </c:pt>
                <c:pt idx="2">
                  <c:v>0.47399999999999998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01D1-43FC-9891-C00A2A1E8A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E63946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GPT-4 turbo
(Dataflow+RCI)</c:v>
                </c:pt>
                <c:pt idx="1">
                  <c:v>GPT-4
(CoT 8-step)</c:v>
                </c:pt>
                <c:pt idx="2">
                  <c:v>Claude 3 Opus
(CoT 8-step)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0.66200000000000003</c:v>
                </c:pt>
                <c:pt idx="1">
                  <c:v>0.67200000000000004</c:v>
                </c:pt>
                <c:pt idx="2">
                  <c:v>0.61699999999999999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01D1-43FC-9891-C00A2A1E8A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8E3"/>
            </a:solidFill>
          </a:ln>
        </c:spPr>
        <c:txPr>
          <a:bodyPr/>
          <a:lstStyle/>
          <a:p>
            <a:pPr>
              <a:defRPr sz="1100">
                <a:solidFill>
                  <a:srgbClr val="1A1A2E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AECF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1A1A2E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153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 slide. Introduce the paper: a benchmarking study testing whether general-purpose LLMs (GPT-4, GPT-4 turbo, Claude 3 Opus) can find security vulnerabilities in source code, compared against traditional static analysis tools (CodeQL, SpotBugs).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Roadmap for the talk: motivation, foundational vocabulary, the LLM approach, prompting techniques, methodology, results, and final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the stakes: huge and growing number of vulnerabilities, most caused by development mistakes, existing tools are limited. This motivates testing LLMs as a new kind of detector.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CVE (specific case) vs CWE (general category). The paper works at the CWE level, targeting MITRE's Top 25 most dangerous weakness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Overview four traditional approaches. Static analysis is the direct comparison point in this paper (CodeQL, SpotBugs).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two traditional static analyzers used as the comparison baseline throughout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research question directly. Preview the scope of the study: 3 LLMs, 20+ prompting strategies, 2 baseline tools, 578 Java files from the Juliet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core concept: LLMs are general-purpose and steerable via prompts; black-box means we only care about inputs and outputs, matching how static analyzers are already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the fundamentals of prompting: zero-shot vs few-shot, and the temperature parameter that controls randomness/consistency.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the four advanced prompting techniques tested from AI research: Chain-of-Thought, Tree of Thoughts, Self-Consistency, and Self-Refinement/RCI.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two standout custom prompts: dataflow analysis (source/sink/sanitizer tracing) and the eight-step chain-of-thought checklist mimicking a manual code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Juliet Java 1.3 synthetic dataset, how it was narrowed to 578 files across 17 CWE categories, and how identifying hints were stripped out before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four outcome types used to grade every tool's verdict against the known-correct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four scoring formulas and why F1 (balancing precision and recall) is the paper's main comparison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traditional tool results table. SpotBugs+FSB wins on F1; CodeQL default has the highest precision but very low recall — illustrating the precision/recall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the best-performing configuration for each LLM. All three slightly beat the best traditional tool on F1, but the winning prompt differs by model. Claude 3 Opus stands out for high precision (few false alarms).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the practical trade-off: traditional tools are free and near-instant; the best LLM strategy costs real money and takes over 20 hours to run on the full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SQL injection false-positive example from the paper's qualitative analysis: every tool except Claude 3 Opus incorrectly flags safe, hardcoded data as a vulnerability.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head-to-head strengths and weaknesses established across the results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the study's stated limitations, then land on the authors' practical recommendation: traditional tools for routine scanning, LLMs for periodic higher-stakes audits.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the three key takeaways, then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26836" y="91440"/>
            <a:ext cx="4114800" cy="4114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07899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Harnessing Large Language Models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for Software Vulnerability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CADCFC"/>
                </a:solidFill>
                <a:latin typeface="Calibri"/>
              </a:rPr>
              <a:t>A Comprehensive Benchmarking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AA3C8"/>
                </a:solidFill>
                <a:latin typeface="Calibri"/>
              </a:rPr>
              <a:t>Karl Tamberg &amp; Hayretdin Bahsi — Tallinn University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9AA3C8"/>
                </a:solidFill>
                <a:latin typeface="Calibri"/>
              </a:rPr>
              <a:t>Presented as a guided walkthrough of the paper's concepts, methods, and findings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What We'll Cover</a:t>
            </a:r>
          </a:p>
        </p:txBody>
      </p:sp>
      <p:sp>
        <p:nvSpPr>
          <p:cNvPr id="5" name="Oval 4"/>
          <p:cNvSpPr/>
          <p:nvPr/>
        </p:nvSpPr>
        <p:spPr>
          <a:xfrm>
            <a:off x="557784" y="1691640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70992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73736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The vulnerability problem &amp; motivation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4440" y="2272284"/>
            <a:ext cx="10408615" cy="0"/>
          </a:xfrm>
          <a:prstGeom prst="line">
            <a:avLst/>
          </a:prstGeom>
          <a:ln w="9525">
            <a:solidFill>
              <a:srgbClr val="E5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57784" y="2299716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1800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The Basics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345436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CVE, CWE, and traditional detection methods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34440" y="2880360"/>
            <a:ext cx="10408615" cy="0"/>
          </a:xfrm>
          <a:prstGeom prst="line">
            <a:avLst/>
          </a:prstGeom>
          <a:ln w="9525">
            <a:solidFill>
              <a:srgbClr val="E5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57784" y="2907792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2608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Enter LLMs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953512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Using AI models as black-box code scanners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34440" y="3488436"/>
            <a:ext cx="10408615" cy="0"/>
          </a:xfrm>
          <a:prstGeom prst="line">
            <a:avLst/>
          </a:prstGeom>
          <a:ln w="9525">
            <a:solidFill>
              <a:srgbClr val="E5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57784" y="3515868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53415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Prompting Strategies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561588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How the way you ask changes the answer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34440" y="4096511"/>
            <a:ext cx="10408615" cy="0"/>
          </a:xfrm>
          <a:prstGeom prst="line">
            <a:avLst/>
          </a:prstGeom>
          <a:ln w="9525">
            <a:solidFill>
              <a:srgbClr val="E5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57784" y="4123944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42231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169663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Dataset, tools, and evaluation metrics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34440" y="4704588"/>
            <a:ext cx="10408615" cy="0"/>
          </a:xfrm>
          <a:prstGeom prst="line">
            <a:avLst/>
          </a:prstGeom>
          <a:ln w="9525">
            <a:solidFill>
              <a:srgbClr val="E5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57784" y="4732020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75030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77774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Who wins — and at what cost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34440" y="5312664"/>
            <a:ext cx="10408615" cy="0"/>
          </a:xfrm>
          <a:prstGeom prst="line">
            <a:avLst/>
          </a:prstGeom>
          <a:ln w="9525">
            <a:solidFill>
              <a:srgbClr val="E5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57784" y="5340096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358383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Takeaways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385816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Strengths, weaknesses, and the bottom 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ADCFC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The Problem Is Getting Bigger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454298" cy="2286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299709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E63946"/>
                </a:solidFill>
                <a:latin typeface="Cambria"/>
              </a:rPr>
              <a:t>~110,000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299709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CVEs reported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 the last 5 years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698" y="1965960"/>
            <a:ext cx="3454298" cy="2286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7298" y="2286000"/>
            <a:ext cx="299709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E63946"/>
                </a:solidFill>
                <a:latin typeface="Cambria"/>
              </a:rPr>
              <a:t>70%+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298" y="3246120"/>
            <a:ext cx="299709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of vulnerabilities trace back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to development mistakes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8756" y="1965960"/>
            <a:ext cx="3454298" cy="2286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7356" y="2286000"/>
            <a:ext cx="299709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E63946"/>
                </a:solidFill>
                <a:latin typeface="Cambria"/>
              </a:rPr>
              <a:t>Too many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7356" y="3246120"/>
            <a:ext cx="299709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for humans to catch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by manual review alone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10789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Traditional automated tools (static analyzers) help — but they miss vulnerability types outside their rulebook and raise frequent false alarms. This paper asks: could general-purpose AI models like GPT-4 and Claude do better?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AA3C8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AA3C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CVE vs. CWE: Case vs. Category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49240" cy="3246120"/>
          </a:xfrm>
          <a:prstGeom prst="roundRect">
            <a:avLst>
              <a:gd name="adj" fmla="val 8000"/>
            </a:avLst>
          </a:prstGeom>
          <a:solidFill>
            <a:srgbClr val="E3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E2761"/>
                </a:solidFill>
                <a:latin typeface="Cambria"/>
              </a:rPr>
              <a:t>CVE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Common Vulnerabilities and Exposures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Clr>
                <a:srgbClr val="1E2761"/>
              </a:buClr>
              <a:buFont typeface="Calibri"/>
              <a:buChar char="—"/>
            </a:pPr>
            <a:r>
              <a:rPr sz="1300">
                <a:solidFill>
                  <a:srgbClr val="1A1A2E"/>
                </a:solidFill>
                <a:latin typeface="Calibri"/>
              </a:rPr>
              <a:t>A unique ID for one specific, confirmed bug in one specific real product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Clr>
                <a:srgbClr val="1E2761"/>
              </a:buClr>
              <a:buFont typeface="Calibri"/>
              <a:buChar char="—"/>
            </a:pPr>
            <a:r>
              <a:rPr sz="1300" b="1">
                <a:solidFill>
                  <a:srgbClr val="1A1A2E"/>
                </a:solidFill>
                <a:latin typeface="Calibri"/>
              </a:rPr>
              <a:t>Example: </a:t>
            </a:r>
            <a:r>
              <a:rPr sz="1300">
                <a:solidFill>
                  <a:srgbClr val="1A1A2E"/>
                </a:solidFill>
                <a:latin typeface="Calibri"/>
              </a:rPr>
              <a:t>CVE-2021-44228 is the “Log4Shell” bug in the Log4j library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Clr>
                <a:srgbClr val="1E2761"/>
              </a:buClr>
              <a:buFont typeface="Calibri"/>
              <a:buChar char="—"/>
            </a:pPr>
            <a:r>
              <a:rPr sz="1300">
                <a:solidFill>
                  <a:srgbClr val="1A1A2E"/>
                </a:solidFill>
                <a:latin typeface="Calibri"/>
              </a:rPr>
              <a:t>Think of it as a specific criminal case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349240" cy="324612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E2761"/>
                </a:solidFill>
                <a:latin typeface="Cambria"/>
              </a:rPr>
              <a:t>CWE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Common Weakness Enumeration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8036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Clr>
                <a:srgbClr val="1E2761"/>
              </a:buClr>
              <a:buFont typeface="Calibri"/>
              <a:buChar char="—"/>
            </a:pPr>
            <a:r>
              <a:rPr sz="1300">
                <a:solidFill>
                  <a:srgbClr val="1A1A2E"/>
                </a:solidFill>
                <a:latin typeface="Calibri"/>
              </a:rPr>
              <a:t>The general category/pattern a bug belongs to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Clr>
                <a:srgbClr val="1E2761"/>
              </a:buClr>
              <a:buFont typeface="Calibri"/>
              <a:buChar char="—"/>
            </a:pPr>
            <a:r>
              <a:rPr sz="1300" b="1">
                <a:solidFill>
                  <a:srgbClr val="1A1A2E"/>
                </a:solidFill>
                <a:latin typeface="Calibri"/>
              </a:rPr>
              <a:t>Example: </a:t>
            </a:r>
            <a:r>
              <a:rPr sz="1300">
                <a:solidFill>
                  <a:srgbClr val="1A1A2E"/>
                </a:solidFill>
                <a:latin typeface="Calibri"/>
              </a:rPr>
              <a:t>CWE-89 = SQL Injection, CWE-78 = OS Command Injection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Clr>
                <a:srgbClr val="1E2761"/>
              </a:buClr>
              <a:buFont typeface="Calibri"/>
              <a:buChar char="—"/>
            </a:pPr>
            <a:r>
              <a:rPr sz="1300">
                <a:solidFill>
                  <a:srgbClr val="1A1A2E"/>
                </a:solidFill>
                <a:latin typeface="Calibri"/>
              </a:rPr>
              <a:t>Think of it as the crime category (“burglary,” “fraud”)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663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1">
                <a:solidFill>
                  <a:srgbClr val="1A1A2E"/>
                </a:solidFill>
                <a:latin typeface="Calibri"/>
              </a:rPr>
              <a:t>This paper doesn't hunt for specific known CVEs — it tests whether tools and LLMs can recognize the general CWE category of flaw in a piece of code, focusing on MITRE's Top 25 most dangerous CWEs.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How Vulnerabilities Were Found — Before LLMs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533573" cy="356616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31962" y="2002536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220438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Manual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2167813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A human reads the code line by line. Thorough, but slow and depends on the reviewer's knowledge.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2253" y="1783080"/>
            <a:ext cx="2533573" cy="356616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385576" y="2002536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845" y="2743200"/>
            <a:ext cx="220438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Penetration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5133" y="3246120"/>
            <a:ext cx="2167813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Actively attacking a running app like a real hacker. Finds real bugs, but easily misses untested paths.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7" y="1783080"/>
            <a:ext cx="2533573" cy="356616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239190" y="2002536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0459" y="2743200"/>
            <a:ext cx="220438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Static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747" y="3246120"/>
            <a:ext cx="2167813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Scans code text for risky patterns without running it. Fast, but limited to known rule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9481" y="1783080"/>
            <a:ext cx="2533573" cy="356616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92804" y="2002536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4073" y="2743200"/>
            <a:ext cx="220438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Dynamic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2361" y="3246120"/>
            <a:ext cx="2167813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Runs the program and watches its behavior. Fewer false alarms, but only sees executed code.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235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6B7280"/>
                </a:solidFill>
                <a:latin typeface="Calibri"/>
              </a:rPr>
              <a:t>Also common: hybrid analysis (static + dynamic combined) and machine learning models trained on labeled code — both with their own trade-offs.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THE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CodeQL &amp; SpotBugs: The Tools Being Challenged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49240" cy="3383280"/>
          </a:xfrm>
          <a:prstGeom prst="roundRect">
            <a:avLst>
              <a:gd name="adj" fmla="val 8000"/>
            </a:avLst>
          </a:prstGeom>
          <a:solidFill>
            <a:srgbClr val="E3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E2761"/>
                </a:solidFill>
                <a:latin typeface="Cambria"/>
              </a:rPr>
              <a:t>CodeQL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800"/>
              </a:spcAft>
              <a:buClr>
                <a:srgbClr val="1E2761"/>
              </a:buClr>
              <a:buFont typeface="Calibri"/>
              <a:buChar char="—"/>
            </a:pPr>
            <a:r>
              <a:rPr sz="1250">
                <a:solidFill>
                  <a:srgbClr val="1A1A2E"/>
                </a:solidFill>
                <a:latin typeface="Calibri"/>
              </a:rPr>
              <a:t>Free tool built by GitHub</a:t>
            </a:r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Clr>
                <a:srgbClr val="1E2761"/>
              </a:buClr>
              <a:buFont typeface="Calibri"/>
              <a:buChar char="—"/>
            </a:pPr>
            <a:r>
              <a:rPr sz="1250">
                <a:solidFill>
                  <a:srgbClr val="1A1A2E"/>
                </a:solidFill>
                <a:latin typeface="Calibri"/>
              </a:rPr>
              <a:t>Turns code into a searchable database, then runs pre-written security queries against it</a:t>
            </a:r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Clr>
                <a:srgbClr val="1E2761"/>
              </a:buClr>
              <a:buFont typeface="Calibri"/>
              <a:buChar char="—"/>
            </a:pPr>
            <a:r>
              <a:rPr sz="1250">
                <a:solidFill>
                  <a:srgbClr val="1A1A2E"/>
                </a:solidFill>
                <a:latin typeface="Calibri"/>
              </a:rPr>
              <a:t>3 configurations tested: default, extended-security, extended-security+quality</a:t>
            </a:r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Clr>
                <a:srgbClr val="1E2761"/>
              </a:buClr>
              <a:buFont typeface="Calibri"/>
              <a:buChar char="—"/>
            </a:pPr>
            <a:r>
              <a:rPr sz="1250" b="1">
                <a:solidFill>
                  <a:srgbClr val="1A1A2E"/>
                </a:solidFill>
                <a:latin typeface="Calibri"/>
              </a:rPr>
              <a:t>Best precision in the whole study: </a:t>
            </a:r>
            <a:r>
              <a:rPr sz="1250">
                <a:solidFill>
                  <a:srgbClr val="1A1A2E"/>
                </a:solidFill>
                <a:latin typeface="Calibri"/>
              </a:rPr>
              <a:t>0.938 — but low recall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349240" cy="338328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E2761"/>
                </a:solidFill>
                <a:latin typeface="Cambria"/>
              </a:rPr>
              <a:t>SpotBugs + Find Security Bugs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1460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800"/>
              </a:spcAft>
              <a:buClr>
                <a:srgbClr val="1E2761"/>
              </a:buClr>
              <a:buFont typeface="Calibri"/>
              <a:buChar char="—"/>
            </a:pPr>
            <a:r>
              <a:rPr sz="1250">
                <a:solidFill>
                  <a:srgbClr val="1A1A2E"/>
                </a:solidFill>
                <a:latin typeface="Calibri"/>
              </a:rPr>
              <a:t>Free Java bug-pattern scanner</a:t>
            </a:r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Clr>
                <a:srgbClr val="1E2761"/>
              </a:buClr>
              <a:buFont typeface="Calibri"/>
              <a:buChar char="—"/>
            </a:pPr>
            <a:r>
              <a:rPr sz="1250">
                <a:solidFill>
                  <a:srgbClr val="1A1A2E"/>
                </a:solidFill>
                <a:latin typeface="Calibri"/>
              </a:rPr>
              <a:t>The “Find Security Bugs” plugin adds security-specific rules</a:t>
            </a:r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Clr>
                <a:srgbClr val="1E2761"/>
              </a:buClr>
              <a:buFont typeface="Calibri"/>
              <a:buChar char="—"/>
            </a:pPr>
            <a:r>
              <a:rPr sz="1250">
                <a:solidFill>
                  <a:srgbClr val="1A1A2E"/>
                </a:solidFill>
                <a:latin typeface="Calibri"/>
              </a:rPr>
              <a:t>Dramatically improves detection over the default configuration</a:t>
            </a:r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Clr>
                <a:srgbClr val="1E2761"/>
              </a:buClr>
              <a:buFont typeface="Calibri"/>
              <a:buChar char="—"/>
            </a:pPr>
            <a:r>
              <a:rPr sz="1250" b="1">
                <a:solidFill>
                  <a:srgbClr val="1A1A2E"/>
                </a:solidFill>
                <a:latin typeface="Calibri"/>
              </a:rPr>
              <a:t>Best traditional tool overall: </a:t>
            </a:r>
            <a:r>
              <a:rPr sz="1250">
                <a:solidFill>
                  <a:srgbClr val="1A1A2E"/>
                </a:solidFill>
                <a:latin typeface="Calibri"/>
              </a:rPr>
              <a:t>F1 = 0.655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ADCFC"/>
                </a:solidFill>
                <a:latin typeface="Calibri"/>
              </a:rPr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Can General-Purpose AI Replace a Purpose-Built Scanner?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200" b="1" i="1">
                <a:solidFill>
                  <a:srgbClr val="FFFFFF"/>
                </a:solidFill>
                <a:latin typeface="Cambria"/>
              </a:rPr>
              <a:t>“Can GPT-4, GPT-4 turbo, and Claude 3 Opus — the same LLMs behind ChatGPT and Claude.ai — be used as black-box vulnerability scanners for source code?”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31920"/>
            <a:ext cx="2533573" cy="15544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133087"/>
            <a:ext cx="253357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63946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00600"/>
            <a:ext cx="235069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LLMs tested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2253" y="3931920"/>
            <a:ext cx="2533573" cy="15544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02253" y="4133087"/>
            <a:ext cx="253357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63946"/>
                </a:solidFill>
                <a:latin typeface="Cambria"/>
              </a:rPr>
              <a:t>20+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693" y="4800600"/>
            <a:ext cx="235069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prompting strategies compared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3931920"/>
            <a:ext cx="2533573" cy="15544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55867" y="4133087"/>
            <a:ext cx="253357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63946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4800600"/>
            <a:ext cx="235069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traditional tools as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09481" y="3931920"/>
            <a:ext cx="2533573" cy="15544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09481" y="4133087"/>
            <a:ext cx="253357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63946"/>
                </a:solidFill>
                <a:latin typeface="Cambria"/>
              </a:rPr>
              <a:t>578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0921" y="4800600"/>
            <a:ext cx="235069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Java files analyzed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AA3C8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AA3C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LLMs as “Black-Box” Static Analyzers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49240" cy="342900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What is an LLM?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75488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A general-purpose AI trained on huge amounts of text and code. Unlike narrow ML models trained for one job, an LLM can be redirected to a new task simply by describing it in a written instruction — no retraining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349240" cy="3429000"/>
          </a:xfrm>
          <a:prstGeom prst="roundRect">
            <a:avLst>
              <a:gd name="adj" fmla="val 8000"/>
            </a:avLst>
          </a:prstGeom>
          <a:solidFill>
            <a:srgbClr val="E3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What is “black-box” testing?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75488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You send code + a question through an API and get back an answer — without needing to understand the model's internals. This mirrors exactly how CodeQL and SpotBugs are already used in practice.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949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1">
                <a:solidFill>
                  <a:srgbClr val="6B7280"/>
                </a:solidFill>
                <a:latin typeface="Calibri"/>
              </a:rPr>
              <a:t>Because LLMs were trained on huge amounts of real code, bug reports, and security discussions, they've picked up a broad sense of “risky” patterns — like a well-read engineer's instincts, rather than a fixed rulebook.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PROMPTING 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How You “Ask” Changes the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49240" cy="288036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Zero-shot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Describe the task in words only — no worked examples included.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sz="1250" b="0" i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“Here is a Java file. Does it contain a security vulnerability?”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349240" cy="2880360"/>
          </a:xfrm>
          <a:prstGeom prst="roundRect">
            <a:avLst>
              <a:gd name="adj" fmla="val 8000"/>
            </a:avLst>
          </a:prstGeom>
          <a:solidFill>
            <a:srgbClr val="E3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Few-shot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Include a few labeled examples first, so the model can pattern-match the reasoning style before answering the real question.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sz="1250" b="0" i="0">
              <a:solidFill>
                <a:srgbClr val="1A1A2E"/>
              </a:solidFill>
              <a:latin typeface="Calibri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In this paper: examples are MITRE Top-25 code snippets with their correct CWE labels.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92040"/>
            <a:ext cx="10835640" cy="12344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07492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Temperature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02920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Controls how random the model's answers are. At 0, answers are (almost) fully repeatable — used for most tests here. Higher values add variety, which techniques like self-consistency rely 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PROMPTING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Advanced Reasoning Strategies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87187" cy="160020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6947" y="214884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1920240"/>
            <a:ext cx="41070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Chain-of-Thought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267712"/>
            <a:ext cx="4107027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The model works through visible reasoning steps before giving a final answer — mimicking how a human expert reasons out loud.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737360"/>
            <a:ext cx="5387187" cy="160020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34175" y="214884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3147" y="1920240"/>
            <a:ext cx="41070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Tree of Thoughts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3147" y="2267712"/>
            <a:ext cx="4107027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Generates several competing reasoning branches per step and evaluates which looks best. Thorough, but 48 LLM calls per file — expensive.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11879"/>
            <a:ext cx="5387187" cy="160020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26947" y="4023359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3794759"/>
            <a:ext cx="41070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Self-Consistency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4142231"/>
            <a:ext cx="4107027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Runs the same prompt 3 times (with randomness) and takes the majority answer — like getting a second medical opinion.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5867" y="3611879"/>
            <a:ext cx="5387187" cy="160020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34175" y="4023359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3147" y="3794759"/>
            <a:ext cx="41070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Self-Refinement / RCI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3147" y="4142231"/>
            <a:ext cx="4107027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Asks the model to critique, then improve, its own first answer — like a second editing pass on a draft.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THE AUTHORS' OWN RECIPES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The Two Best-Performing Custom Prompts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49240" cy="3657600"/>
          </a:xfrm>
          <a:prstGeom prst="roundRect">
            <a:avLst>
              <a:gd name="adj" fmla="val 8000"/>
            </a:avLst>
          </a:prstGeom>
          <a:solidFill>
            <a:srgbClr val="E3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Dataflow Analysis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754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700"/>
              </a:spcAft>
              <a:buClr>
                <a:srgbClr val="1E2761"/>
              </a:buClr>
              <a:buFont typeface="Calibri"/>
              <a:buChar char="—"/>
            </a:pPr>
            <a:r>
              <a:rPr sz="1200" b="1">
                <a:solidFill>
                  <a:srgbClr val="1A1A2E"/>
                </a:solidFill>
                <a:latin typeface="Calibri"/>
              </a:rPr>
              <a:t>Sources: </a:t>
            </a:r>
            <a:r>
              <a:rPr sz="1200">
                <a:solidFill>
                  <a:srgbClr val="1A1A2E"/>
                </a:solidFill>
                <a:latin typeface="Calibri"/>
              </a:rPr>
              <a:t>where untrusted data enters (e.g., a web request)</a:t>
            </a:r>
          </a:p>
          <a:p>
            <a:pPr marL="228600" indent="-228600">
              <a:lnSpc>
                <a:spcPct val="120000"/>
              </a:lnSpc>
              <a:spcAft>
                <a:spcPts val="700"/>
              </a:spcAft>
              <a:buClr>
                <a:srgbClr val="1E2761"/>
              </a:buClr>
              <a:buFont typeface="Calibri"/>
              <a:buChar char="—"/>
            </a:pPr>
            <a:r>
              <a:rPr sz="1200" b="1">
                <a:solidFill>
                  <a:srgbClr val="1A1A2E"/>
                </a:solidFill>
                <a:latin typeface="Calibri"/>
              </a:rPr>
              <a:t>Sinks: </a:t>
            </a:r>
            <a:r>
              <a:rPr sz="1200">
                <a:solidFill>
                  <a:srgbClr val="1A1A2E"/>
                </a:solidFill>
                <a:latin typeface="Calibri"/>
              </a:rPr>
              <a:t>where that data ends up used (e.g., a database call)</a:t>
            </a:r>
          </a:p>
          <a:p>
            <a:pPr marL="228600" indent="-228600">
              <a:lnSpc>
                <a:spcPct val="120000"/>
              </a:lnSpc>
              <a:spcAft>
                <a:spcPts val="700"/>
              </a:spcAft>
              <a:buClr>
                <a:srgbClr val="1E2761"/>
              </a:buClr>
              <a:buFont typeface="Calibri"/>
              <a:buChar char="—"/>
            </a:pPr>
            <a:r>
              <a:rPr sz="1200" b="1">
                <a:solidFill>
                  <a:srgbClr val="1A1A2E"/>
                </a:solidFill>
                <a:latin typeface="Calibri"/>
              </a:rPr>
              <a:t>Sanitizers: </a:t>
            </a:r>
            <a:r>
              <a:rPr sz="1200">
                <a:solidFill>
                  <a:srgbClr val="1A1A2E"/>
                </a:solidFill>
                <a:latin typeface="Calibri"/>
              </a:rPr>
              <a:t>any cleaning steps along the way</a:t>
            </a:r>
          </a:p>
          <a:p>
            <a:pPr marL="228600" indent="-228600">
              <a:lnSpc>
                <a:spcPct val="120000"/>
              </a:lnSpc>
              <a:spcAft>
                <a:spcPts val="700"/>
              </a:spcAft>
              <a:buClr>
                <a:srgbClr val="1E2761"/>
              </a:buClr>
              <a:buFont typeface="Calibri"/>
              <a:buChar char="—"/>
            </a:pPr>
            <a:r>
              <a:rPr sz="1200" b="1">
                <a:solidFill>
                  <a:srgbClr val="1A1A2E"/>
                </a:solidFill>
                <a:latin typeface="Calibri"/>
              </a:rPr>
              <a:t>Verdict: </a:t>
            </a:r>
            <a:r>
              <a:rPr sz="1200">
                <a:solidFill>
                  <a:srgbClr val="1A1A2E"/>
                </a:solidFill>
                <a:latin typeface="Calibri"/>
              </a:rPr>
              <a:t>flag source → sink paths that are NOT cleaned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920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1">
                <a:solidFill>
                  <a:srgbClr val="1E2761"/>
                </a:solidFill>
                <a:latin typeface="Calibri"/>
              </a:rPr>
              <a:t>Best for GPT-4 turbo (+ RCI): F1 = 0.662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49240" cy="365760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93852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CoT Eight-Step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Mimics a full manual code review in 8 steps: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1. Identify weaknesses  5. Check reachability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2. Review input handling  6. Assess error handling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3. Analyze data flow  7. Check for leaked secrets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4. Check mitigations  8. Give final verdict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8920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1">
                <a:solidFill>
                  <a:srgbClr val="1E2761"/>
                </a:solidFill>
                <a:latin typeface="Calibri"/>
              </a:rPr>
              <a:t>Best for GPT-4 &amp; Claude 3 Opus: F1 up to 0.672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The Dataset: Juliet Java 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A synthetic (deliberately constructed) test suite where the correct answer for every file is known for certain — ideal for precise scoring.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3393338" cy="160020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339333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E2761"/>
                </a:solidFill>
                <a:latin typeface="Cambria"/>
              </a:rPr>
              <a:t>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83279"/>
            <a:ext cx="311901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CWE categories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in full Juliet suite</a:t>
            </a:r>
          </a:p>
        </p:txBody>
      </p:sp>
      <p:sp>
        <p:nvSpPr>
          <p:cNvPr id="9" name="Chevron 8"/>
          <p:cNvSpPr/>
          <p:nvPr/>
        </p:nvSpPr>
        <p:spPr>
          <a:xfrm>
            <a:off x="3987698" y="3127248"/>
            <a:ext cx="365760" cy="457200"/>
          </a:xfrm>
          <a:prstGeom prst="chevron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99178" y="2560320"/>
            <a:ext cx="3393338" cy="160020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99178" y="2724912"/>
            <a:ext cx="339333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E2761"/>
                </a:solidFill>
                <a:latin typeface="Cambria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6338" y="3383279"/>
            <a:ext cx="311901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kept — those in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MITRE's Top 25</a:t>
            </a:r>
          </a:p>
        </p:txBody>
      </p:sp>
      <p:sp>
        <p:nvSpPr>
          <p:cNvPr id="13" name="Chevron 12"/>
          <p:cNvSpPr/>
          <p:nvPr/>
        </p:nvSpPr>
        <p:spPr>
          <a:xfrm>
            <a:off x="7838236" y="3127248"/>
            <a:ext cx="365760" cy="457200"/>
          </a:xfrm>
          <a:prstGeom prst="chevron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49716" y="2560320"/>
            <a:ext cx="3393338" cy="1600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9716" y="2724912"/>
            <a:ext cx="339333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63946"/>
                </a:solidFill>
                <a:latin typeface="Cambria"/>
              </a:rPr>
              <a:t>578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383279"/>
            <a:ext cx="311901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final files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(17 CWEs × 17 pairs × 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B7280"/>
                </a:solidFill>
                <a:latin typeface="Calibri"/>
              </a:rPr>
              <a:t>Before testing, the authors stripped every “cheating” hint from the raw dataset: file/class/function/variable names and comments were all renamed or removed (e.g., “CWE89_SQL_Injection_bad” → a neutral name). This forces genuine code analysis instead of pattern-matching a suspicious label.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Measuring Success: Four Possible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87187" cy="141732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08659" y="2103120"/>
            <a:ext cx="685800" cy="6858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38528"/>
            <a:ext cx="41984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True Positive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67712"/>
            <a:ext cx="4198467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Really vulnerable, correctly flagged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737360"/>
            <a:ext cx="5387187" cy="141732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15887" y="2103120"/>
            <a:ext cx="685800" cy="6858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1707" y="1938528"/>
            <a:ext cx="41984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False Positive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1707" y="2267712"/>
            <a:ext cx="4198467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Actually safe, wrongly flagged (a “false alarm”)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5387187" cy="141732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08659" y="3749040"/>
            <a:ext cx="685800" cy="6858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84448"/>
            <a:ext cx="41984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False Negative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13632"/>
            <a:ext cx="4198467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Really vulnerable, missed entirely — the most dangerous mistake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5867" y="3383280"/>
            <a:ext cx="5387187" cy="141732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15887" y="3749040"/>
            <a:ext cx="685800" cy="6858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1707" y="3584448"/>
            <a:ext cx="41984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True Negative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1707" y="3913632"/>
            <a:ext cx="4198467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Actually safe, correctly cleared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692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Example: out of 4 files, a tool correctly flags 1 real bug (TP), misses 1 (FN), wrongly flags 1 safe file (FP), and correctly clears 1 safe file (TN) — 2 right, 2 wrong.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Scoring Formulas: Accuracy, Precision, Recall, F1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67863" cy="329184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22935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38498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ourier New"/>
              </a:rPr>
              <a:t>(TP+TN) / 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566160"/>
            <a:ext cx="22386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What fraction of ALL calls were correct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0823" y="1828800"/>
            <a:ext cx="2567863" cy="329184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7983" y="2103120"/>
            <a:ext cx="22935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2263" y="2697480"/>
            <a:ext cx="238498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ourier New"/>
              </a:rPr>
              <a:t>TP / (TP+FP)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5415" y="3566160"/>
            <a:ext cx="22386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Of what's flagged, how much really was vulnerable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28800"/>
            <a:ext cx="2567863" cy="329184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0167" y="2103120"/>
            <a:ext cx="22935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2697480"/>
            <a:ext cx="238498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ourier New"/>
              </a:rPr>
              <a:t>TP / (TP+FN)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7599" y="3566160"/>
            <a:ext cx="22386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Of what's really vulnerable, how much was caught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5191" y="1828800"/>
            <a:ext cx="2567863" cy="32918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12351" y="2103120"/>
            <a:ext cx="22935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F1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6631" y="2697480"/>
            <a:ext cx="238498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ourier New"/>
              </a:rPr>
              <a:t>2×(P×R) / (P+R)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783" y="3566160"/>
            <a:ext cx="22386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 single score balancing precision &amp; 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1">
                <a:solidFill>
                  <a:srgbClr val="6B7280"/>
                </a:solidFill>
                <a:latin typeface="Calibri"/>
              </a:rPr>
              <a:t>The paper leans on F1 as its main scorecard, since a tool can look great on precision alone (flagging almost nothing) or recall alone (flagging almost everything) while being practically useless.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Traditional Static Analysis Tools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91640"/>
          <a:ext cx="106984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607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6B7280"/>
                </a:solidFill>
                <a:latin typeface="Calibri"/>
              </a:rPr>
              <a:t>SpotBugs + Find Security Bugs is the best traditional tool overall (F1 = 0.655); CodeQL's default config is the single most precise, but misses most real bugs (recall = 0.263).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Best LLM Strategy per Model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00200"/>
          <a:ext cx="106984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4068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6B7280"/>
                </a:solidFill>
                <a:latin typeface="Calibri"/>
              </a:rPr>
              <a:t>Every LLM's best strategy edges out SpotBugs+FSB (F1 0.655) — GPT-4 with the CoT 8-step prompt reaches the highest F1 (0.672). Note: the best strategy differs per model — there's no single “best prompt” that works everywhere. Claude 3 Opus has the fewest false alarms (precision 0.884).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ADCFC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The Cost &amp; Time Reality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454298" cy="35661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76272"/>
            <a:ext cx="308853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Traditional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08853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A9D8F"/>
                </a:solidFill>
                <a:latin typeface="Cambria"/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308853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&lt; 1 minute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206240"/>
            <a:ext cx="290565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9AA3C8"/>
                </a:solidFill>
                <a:latin typeface="Calibri"/>
              </a:rPr>
              <a:t>to scan all 578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920240"/>
            <a:ext cx="3454298" cy="35661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1578" y="2176272"/>
            <a:ext cx="308853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Basic LLM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2834640"/>
            <a:ext cx="308853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CADCFC"/>
                </a:solidFill>
                <a:latin typeface="Cambria"/>
              </a:rPr>
              <a:t>~$4–$5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3611880"/>
            <a:ext cx="308853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&lt; 1 hour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3018" y="4206240"/>
            <a:ext cx="290565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9AA3C8"/>
                </a:solidFill>
                <a:latin typeface="Calibri"/>
              </a:rPr>
              <a:t>cheapest LLM strategy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8756" y="1920240"/>
            <a:ext cx="3454298" cy="35661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1636" y="2176272"/>
            <a:ext cx="308853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Best LLM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1636" y="2834640"/>
            <a:ext cx="308853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E63946"/>
                </a:solidFill>
                <a:latin typeface="Cambria"/>
              </a:rPr>
              <a:t>~$34.58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1636" y="3611880"/>
            <a:ext cx="308853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~20.5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4206240"/>
            <a:ext cx="290565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9AA3C8"/>
                </a:solidFill>
                <a:latin typeface="Calibri"/>
              </a:rPr>
              <a:t>dataflow + RCI on GPT-4 turbo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1">
                <a:solidFill>
                  <a:srgbClr val="CADCFC"/>
                </a:solidFill>
                <a:latin typeface="Calibri"/>
              </a:rPr>
              <a:t>LLMs can edge out traditional tools on detection quality — but at a real cost in money and especially time that free, sub-minute static analyzers simply don't have.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AA3C8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AA3C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When “Looks Risky” Isn't the Same as “Is Risky”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A file builds a SQL query using string concatenation (usually bad practice) — but the concatenated value is hardcoded, so it's actually SAFE.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5349240" cy="283464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39" y="2606040"/>
            <a:ext cx="548640" cy="54864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6974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CodeQL, SpotBugs, GPT-4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All flag this as a SQL Injection vulnerability (CWE-89) — a false positive. They key off the surface pattern (string concatenation in a query) without tracing whether the value could actually be influenced by a user.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514600"/>
            <a:ext cx="5349240" cy="2834640"/>
          </a:xfrm>
          <a:prstGeom prst="roundRect">
            <a:avLst>
              <a:gd name="adj" fmla="val 8000"/>
            </a:avLst>
          </a:prstGeom>
          <a:solidFill>
            <a:srgbClr val="E3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00800" y="2606040"/>
            <a:ext cx="548640" cy="5486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6974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Claude 3 Opus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3375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Correctly reasons through the data flow, notices the value can't actually be influenced by a user, and judges the code as not currently exploitable — the only approach to get it right.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1">
                <a:solidFill>
                  <a:srgbClr val="6B7280"/>
                </a:solidFill>
                <a:latin typeface="Calibri"/>
              </a:rPr>
              <a:t>Illustrates the difference between code that merely looks risky by surface pattern, versus code that is risky because of how data actually flows through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LLMs vs. Traditional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49240" cy="3840480"/>
          </a:xfrm>
          <a:prstGeom prst="roundRect">
            <a:avLst>
              <a:gd name="adj" fmla="val 8000"/>
            </a:avLst>
          </a:prstGeom>
          <a:solidFill>
            <a:srgbClr val="E3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Where LLMs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95728"/>
            <a:ext cx="475488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Clr>
                <a:srgbClr val="1E2761"/>
              </a:buClr>
              <a:buFont typeface="Calibri"/>
              <a:buChar char="—"/>
            </a:pPr>
            <a:r>
              <a:rPr sz="1250" b="1">
                <a:solidFill>
                  <a:srgbClr val="1A1A2E"/>
                </a:solidFill>
                <a:latin typeface="Calibri"/>
              </a:rPr>
              <a:t>Coverage: </a:t>
            </a:r>
            <a:r>
              <a:rPr sz="1250">
                <a:solidFill>
                  <a:srgbClr val="1A1A2E"/>
                </a:solidFill>
                <a:latin typeface="Calibri"/>
              </a:rPr>
              <a:t>catch 16 of 17 CWE types vs. 11 of 17 for both traditional tools combined</a:t>
            </a:r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Clr>
                <a:srgbClr val="1E2761"/>
              </a:buClr>
              <a:buFont typeface="Calibri"/>
              <a:buChar char="—"/>
            </a:pPr>
            <a:r>
              <a:rPr sz="1250" b="1">
                <a:solidFill>
                  <a:srgbClr val="1A1A2E"/>
                </a:solidFill>
                <a:latin typeface="Calibri"/>
              </a:rPr>
              <a:t>Explanations: </a:t>
            </a:r>
            <a:r>
              <a:rPr sz="1250">
                <a:solidFill>
                  <a:srgbClr val="1A1A2E"/>
                </a:solidFill>
                <a:latin typeface="Calibri"/>
              </a:rPr>
              <a:t>plain-language reasoning, not just a line number</a:t>
            </a:r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Clr>
                <a:srgbClr val="1E2761"/>
              </a:buClr>
              <a:buFont typeface="Calibri"/>
              <a:buChar char="—"/>
            </a:pPr>
            <a:r>
              <a:rPr sz="1250" b="1">
                <a:solidFill>
                  <a:srgbClr val="1A1A2E"/>
                </a:solidFill>
                <a:latin typeface="Calibri"/>
              </a:rPr>
              <a:t>No build required: </a:t>
            </a:r>
            <a:r>
              <a:rPr sz="1250">
                <a:solidFill>
                  <a:srgbClr val="1A1A2E"/>
                </a:solidFill>
                <a:latin typeface="Calibri"/>
              </a:rPr>
              <a:t>can analyze code that doesn't compile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349240" cy="384048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93852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Where Traditional Tools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95728"/>
            <a:ext cx="475488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Clr>
                <a:srgbClr val="1E2761"/>
              </a:buClr>
              <a:buFont typeface="Calibri"/>
              <a:buChar char="—"/>
            </a:pPr>
            <a:r>
              <a:rPr sz="1250" b="1">
                <a:solidFill>
                  <a:srgbClr val="1A1A2E"/>
                </a:solidFill>
                <a:latin typeface="Calibri"/>
              </a:rPr>
              <a:t>Cost: </a:t>
            </a:r>
            <a:r>
              <a:rPr sz="1250">
                <a:solidFill>
                  <a:srgbClr val="1A1A2E"/>
                </a:solidFill>
                <a:latin typeface="Calibri"/>
              </a:rPr>
              <a:t>free vs. tens of dollars per full run</a:t>
            </a:r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Clr>
                <a:srgbClr val="1E2761"/>
              </a:buClr>
              <a:buFont typeface="Calibri"/>
              <a:buChar char="—"/>
            </a:pPr>
            <a:r>
              <a:rPr sz="1250" b="1">
                <a:solidFill>
                  <a:srgbClr val="1A1A2E"/>
                </a:solidFill>
                <a:latin typeface="Calibri"/>
              </a:rPr>
              <a:t>Speed: </a:t>
            </a:r>
            <a:r>
              <a:rPr sz="1250">
                <a:solidFill>
                  <a:srgbClr val="1A1A2E"/>
                </a:solidFill>
                <a:latin typeface="Calibri"/>
              </a:rPr>
              <a:t>under a minute vs. hours</a:t>
            </a:r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Clr>
                <a:srgbClr val="1E2761"/>
              </a:buClr>
              <a:buFont typeface="Calibri"/>
              <a:buChar char="—"/>
            </a:pPr>
            <a:r>
              <a:rPr sz="1250" b="1">
                <a:solidFill>
                  <a:srgbClr val="1A1A2E"/>
                </a:solidFill>
                <a:latin typeface="Calibri"/>
              </a:rPr>
              <a:t>Consistency: </a:t>
            </a:r>
            <a:r>
              <a:rPr sz="1250">
                <a:solidFill>
                  <a:srgbClr val="1A1A2E"/>
                </a:solidFill>
                <a:latin typeface="Calibri"/>
              </a:rPr>
              <a:t>same input always gives the same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63946"/>
                </a:solidFill>
                <a:latin typeface="Calibri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Limitations &amp; the Bottom-Line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Study limitations to keep in mind: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6984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Clr>
                <a:srgbClr val="1E2761"/>
              </a:buClr>
              <a:buFont typeface="Calibri"/>
              <a:buChar char="—"/>
            </a:pPr>
            <a:r>
              <a:rPr sz="1200" b="1">
                <a:solidFill>
                  <a:srgbClr val="1A1A2E"/>
                </a:solidFill>
                <a:latin typeface="Calibri"/>
              </a:rPr>
              <a:t>Synthetic data: </a:t>
            </a:r>
            <a:r>
              <a:rPr sz="1200">
                <a:solidFill>
                  <a:srgbClr val="1A1A2E"/>
                </a:solidFill>
                <a:latin typeface="Calibri"/>
              </a:rPr>
              <a:t>Juliet is artificial; real-world code is messier</a:t>
            </a:r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Clr>
                <a:srgbClr val="1E2761"/>
              </a:buClr>
              <a:buFont typeface="Calibri"/>
              <a:buChar char="—"/>
            </a:pPr>
            <a:r>
              <a:rPr sz="1200" b="1">
                <a:solidFill>
                  <a:srgbClr val="1A1A2E"/>
                </a:solidFill>
                <a:latin typeface="Calibri"/>
              </a:rPr>
              <a:t>File-level only: </a:t>
            </a:r>
            <a:r>
              <a:rPr sz="1200">
                <a:solidFill>
                  <a:srgbClr val="1A1A2E"/>
                </a:solidFill>
                <a:latin typeface="Calibri"/>
              </a:rPr>
              <a:t>not pinpointed to the exact vulnerable line</a:t>
            </a:r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Clr>
                <a:srgbClr val="1E2761"/>
              </a:buClr>
              <a:buFont typeface="Calibri"/>
              <a:buChar char="—"/>
            </a:pPr>
            <a:r>
              <a:rPr sz="1200" b="1">
                <a:solidFill>
                  <a:srgbClr val="1A1A2E"/>
                </a:solidFill>
                <a:latin typeface="Calibri"/>
              </a:rPr>
              <a:t>Balanced 50/50 dataset: </a:t>
            </a:r>
            <a:r>
              <a:rPr sz="1200">
                <a:solidFill>
                  <a:srgbClr val="1A1A2E"/>
                </a:solidFill>
                <a:latin typeface="Calibri"/>
              </a:rPr>
              <a:t>unlike most real codebases, which are mostly safe</a:t>
            </a:r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Clr>
                <a:srgbClr val="1E2761"/>
              </a:buClr>
              <a:buFont typeface="Calibri"/>
              <a:buChar char="—"/>
            </a:pPr>
            <a:r>
              <a:rPr sz="1200" b="1">
                <a:solidFill>
                  <a:srgbClr val="1A1A2E"/>
                </a:solidFill>
                <a:latin typeface="Calibri"/>
              </a:rPr>
              <a:t>Possible training overlap: </a:t>
            </a:r>
            <a:r>
              <a:rPr sz="1200">
                <a:solidFill>
                  <a:srgbClr val="1A1A2E"/>
                </a:solidFill>
                <a:latin typeface="Calibri"/>
              </a:rPr>
              <a:t>LLMs may have seen parts of this public dataset before</a:t>
            </a:r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Clr>
                <a:srgbClr val="1E2761"/>
              </a:buClr>
              <a:buFont typeface="Calibri"/>
              <a:buChar char="—"/>
            </a:pPr>
            <a:r>
              <a:rPr sz="1200" b="1">
                <a:solidFill>
                  <a:srgbClr val="1A1A2E"/>
                </a:solidFill>
                <a:latin typeface="Calibri"/>
              </a:rPr>
              <a:t>Java only: </a:t>
            </a:r>
            <a:r>
              <a:rPr sz="1200">
                <a:solidFill>
                  <a:srgbClr val="1A1A2E"/>
                </a:solidFill>
                <a:latin typeface="Calibri"/>
              </a:rPr>
              <a:t>other languages weren't directly tested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34840"/>
            <a:ext cx="10835640" cy="16916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Bottom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Use traditional static analyzers (CodeQL, SpotBugs) for everyday, frequent scanning — they're free and fast. Reserve LLM-based analysis for occasional, higher-stakes reviews (e.g., periodic security audits), where the extra cost is justified by broader coverage and explanations.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1225" y="104320"/>
            <a:ext cx="3840480" cy="3840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8047" y="61599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 dirty="0">
                <a:solidFill>
                  <a:srgbClr val="CADCFC"/>
                </a:solidFill>
                <a:latin typeface="Calibri"/>
              </a:rPr>
              <a:t>WRAPPING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956" y="8612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dirty="0">
                <a:solidFill>
                  <a:srgbClr val="FFFFFF"/>
                </a:solidFill>
                <a:latin typeface="Cambria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1769808"/>
            <a:ext cx="106984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Clr>
                <a:srgbClr val="E63946"/>
              </a:buClr>
              <a:buFont typeface="Calibri"/>
              <a:buChar char="—"/>
            </a:pPr>
            <a:r>
              <a:rPr sz="1500" dirty="0">
                <a:solidFill>
                  <a:srgbClr val="FFFFFF"/>
                </a:solidFill>
                <a:latin typeface="Calibri"/>
              </a:rPr>
              <a:t>LLMs can slightly outperform traditional static analyzers on detection quality (F1 score) — but not on cost or speed</a:t>
            </a:r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Clr>
                <a:srgbClr val="E63946"/>
              </a:buClr>
              <a:buFont typeface="Calibri"/>
              <a:buChar char="—"/>
            </a:pPr>
            <a:r>
              <a:rPr sz="1500" dirty="0">
                <a:solidFill>
                  <a:srgbClr val="FFFFFF"/>
                </a:solidFill>
                <a:latin typeface="Calibri"/>
              </a:rPr>
              <a:t>The best prompting strategy is model-dependent: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dataflow+RCI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wins on GPT-4 turbo, the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CoT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eight-step prompt wins on GPT-4 and Claude 3 Opus</a:t>
            </a:r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Clr>
                <a:srgbClr val="E63946"/>
              </a:buClr>
              <a:buFont typeface="Calibri"/>
              <a:buChar char="—"/>
            </a:pPr>
            <a:r>
              <a:rPr sz="1500" dirty="0">
                <a:solidFill>
                  <a:srgbClr val="FFFFFF"/>
                </a:solidFill>
                <a:latin typeface="Calibri"/>
              </a:rPr>
              <a:t>LLMs catch a wider variety of vulnerability types and explain their reasoning — traditional tools remain faster, cheaper, and more consistent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047" y="4885404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 dirty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AA3C8"/>
                </a:solidFill>
                <a:latin typeface="Calibri"/>
              </a:rPr>
              <a:t>Tamberg &amp; Bahsi, "Harnessing LLMs for Software Vulnerability Detection" (2024)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AA3C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2897</Words>
  <Application>Microsoft Office PowerPoint</Application>
  <PresentationFormat>Widescreen</PresentationFormat>
  <Paragraphs>300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Alireza Shahidiani</cp:lastModifiedBy>
  <cp:revision>3</cp:revision>
  <dcterms:created xsi:type="dcterms:W3CDTF">2013-01-27T09:14:16Z</dcterms:created>
  <dcterms:modified xsi:type="dcterms:W3CDTF">2026-08-04T10:40:09Z</dcterms:modified>
  <cp:category/>
</cp:coreProperties>
</file>